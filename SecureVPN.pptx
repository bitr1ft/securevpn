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72" r:id="rId2"/>
    <p:sldId id="257" r:id="rId3"/>
    <p:sldId id="273" r:id="rId4"/>
    <p:sldId id="274" r:id="rId5"/>
    <p:sldId id="259" r:id="rId6"/>
    <p:sldId id="261" r:id="rId7"/>
    <p:sldId id="262" r:id="rId8"/>
    <p:sldId id="263" r:id="rId9"/>
    <p:sldId id="264" r:id="rId10"/>
    <p:sldId id="275" r:id="rId11"/>
    <p:sldId id="266" r:id="rId12"/>
    <p:sldId id="267" r:id="rId13"/>
    <p:sldId id="268" r:id="rId14"/>
    <p:sldId id="269" r:id="rId15"/>
    <p:sldId id="270" r:id="rId16"/>
    <p:sldId id="271" r:id="rId17"/>
  </p:sldIdLst>
  <p:sldSz cx="24384000" cy="13716000"/>
  <p:notesSz cx="13716000" cy="24384000"/>
  <p:embeddedFontLst>
    <p:embeddedFont>
      <p:font typeface="Liter" panose="020B0604020202020204" charset="0"/>
      <p:regular r:id="rId19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1" d="100"/>
          <a:sy n="41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Time (ms)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X25519 KeyGen</c:v>
                </c:pt>
                <c:pt idx="1">
                  <c:v>HKDF-PSK</c:v>
                </c:pt>
                <c:pt idx="2">
                  <c:v>Kyber KeyGen</c:v>
                </c:pt>
                <c:pt idx="3">
                  <c:v>Encapsulation</c:v>
                </c:pt>
                <c:pt idx="4">
                  <c:v>Decapsulation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0.82</c:v>
                </c:pt>
                <c:pt idx="1">
                  <c:v>0.45</c:v>
                </c:pt>
                <c:pt idx="2">
                  <c:v>4.5199999999999996</c:v>
                </c:pt>
                <c:pt idx="3">
                  <c:v>6.18</c:v>
                </c:pt>
                <c:pt idx="4">
                  <c:v>7.84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F-44F8-ACC9-7B9984DF66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555555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44444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6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9680" y="1016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9680" y="1524000"/>
            <a:ext cx="1498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0" b="1" i="0" u="none" strike="noStrike" kern="0" cap="none" spc="-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SecureVPN</a:t>
            </a:r>
            <a:endParaRPr kumimoji="0" lang="en-US" sz="98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70" b="1" i="0" u="none" strike="noStrike" kern="0" cap="none" spc="-120" normalizeH="0" baseline="0" noProof="0" dirty="0">
                <a:ln>
                  <a:noFill/>
                </a:ln>
                <a:solidFill>
                  <a:srgbClr val="7EC0D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Post-Quantum</a:t>
            </a:r>
            <a:r>
              <a:rPr kumimoji="0" lang="en-US" sz="9870" b="1" i="0" u="none" strike="noStrike" kern="0" cap="none" spc="-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WireGuard</a:t>
            </a:r>
            <a:endParaRPr kumimoji="0" lang="en-US" sz="98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49680" y="5080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Network Security — Project Report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49680" y="6223000"/>
            <a:ext cx="7620000" cy="254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6" name="Text 4"/>
          <p:cNvSpPr/>
          <p:nvPr/>
        </p:nvSpPr>
        <p:spPr>
          <a:xfrm>
            <a:off x="1249680" y="6604000"/>
            <a:ext cx="1143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Submitted By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Muhammad Adeel Haider (241541) | Wazeema Eeman (241493)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Ainish Iqbal (241509) | Umar Farooq (241575)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49680" y="9398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Submitted To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Ms. Areeba Fatima | Instructor, Network Security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Department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National Cyber Security Academy (NCSA), Air University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49680" y="11430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EC0D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May 2026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762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016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400" b="1" kern="0" spc="-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44600" y="1905000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" name="Text 3"/>
          <p:cNvSpPr/>
          <p:nvPr/>
        </p:nvSpPr>
        <p:spPr>
          <a:xfrm>
            <a:off x="1244600" y="25400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667000" y="254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Motivation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67000" y="311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Quantum threat, problem statement, objectives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244600" y="3937000"/>
            <a:ext cx="88900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1244600" y="43180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67000" y="431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67000" y="4889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Four-layer design, server components, protocol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244600" y="5715000"/>
            <a:ext cx="88900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600" y="60960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67000" y="6096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Cryptographic Design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67000" y="6667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PQ key exchange, Kyber-512 KEM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244600" y="7493000"/>
            <a:ext cx="88900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0" y="25400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757400" y="254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Architecture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757400" y="311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Defence-in-depth, STRIDE, access controls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3335000" y="3937000"/>
            <a:ext cx="88900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0" y="43180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757400" y="431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&amp; Testing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757400" y="4889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deployment, E2E verification, benchmarks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3335000" y="5715000"/>
            <a:ext cx="88900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3"/>
          <p:cNvSpPr/>
          <p:nvPr/>
        </p:nvSpPr>
        <p:spPr>
          <a:xfrm>
            <a:off x="13335000" y="60960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757400" y="6096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757400" y="6667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Summary, limitations, technology stack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3335000" y="7493000"/>
            <a:ext cx="88900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44600" y="8636000"/>
            <a:ext cx="21894800" cy="381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0" name="Text 28"/>
          <p:cNvSpPr/>
          <p:nvPr/>
        </p:nvSpPr>
        <p:spPr>
          <a:xfrm>
            <a:off x="1778000" y="9017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PROJECT HIGHLIGHTS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778000" y="977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2" name="Text 30"/>
          <p:cNvSpPr/>
          <p:nvPr/>
        </p:nvSpPr>
        <p:spPr>
          <a:xfrm>
            <a:off x="2413000" y="97155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X25519 + Kyber-512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post-quantum handshake with IND-CCA2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410575" y="9779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4" name="Text 32"/>
          <p:cNvSpPr/>
          <p:nvPr/>
        </p:nvSpPr>
        <p:spPr>
          <a:xfrm>
            <a:off x="9017000" y="97155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deployment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Microsoft Azure with automated installer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5297150" y="9779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6" name="Text 34"/>
          <p:cNvSpPr/>
          <p:nvPr/>
        </p:nvSpPr>
        <p:spPr>
          <a:xfrm>
            <a:off x="15875000" y="97155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Defence-in-depth security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STRIDE threat modeling and rate limiting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1778000" y="1104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8" name="Text 36"/>
          <p:cNvSpPr/>
          <p:nvPr/>
        </p:nvSpPr>
        <p:spPr>
          <a:xfrm>
            <a:off x="2413000" y="109855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~19ms PQ overhead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during registration only; zero in-band impact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353425" y="1104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40" name="Text 38"/>
          <p:cNvSpPr/>
          <p:nvPr/>
        </p:nvSpPr>
        <p:spPr>
          <a:xfrm>
            <a:off x="9017000" y="109855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 Python client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CLI, GUI tray, and crypto engine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2032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0" cap="none" spc="-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The Quantum Threat to VPN Security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49680" y="24765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3175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714500" y="3048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Classical VPNs Are Vulnerable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14500" y="3683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3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Current VPN protocols (OpenVPN, IPsec, WireGuard) rely on ECDH and Diffie-Hellman key exchange — both breakable by </a:t>
            </a:r>
            <a:r>
              <a:rPr kumimoji="0" lang="en-US" sz="293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Shor's algorithm</a:t>
            </a:r>
            <a:r>
              <a:rPr kumimoji="0" lang="en-US" sz="293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on a quantum computer.</a:t>
            </a:r>
            <a:endParaRPr kumimoji="0" lang="en-US" sz="293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49680" y="5588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5461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"Harvest Now, Decrypt Later"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14500" y="6096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3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Adversaries can capture encrypted VPN traffic today and decrypt it once quantum computers become available. For long-lived sensitive data, this is an </a:t>
            </a:r>
            <a:r>
              <a:rPr kumimoji="0" lang="en-US" sz="293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immediate risk</a:t>
            </a:r>
            <a:r>
              <a:rPr kumimoji="0" lang="en-US" sz="293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kumimoji="0" lang="en-US" sz="293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49680" y="8001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7874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NIST FIPS 203 (2024)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14500" y="8509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3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NIST published </a:t>
            </a:r>
            <a:r>
              <a:rPr kumimoji="0" lang="en-US" sz="293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ML-KEM (Kyber)</a:t>
            </a:r>
            <a:r>
              <a:rPr kumimoji="0" lang="en-US" sz="293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as the first post-quantum Key Encapsulation Mechanism standard, signalling urgent need for quantum-resistant network security.</a:t>
            </a:r>
            <a:endParaRPr kumimoji="0" lang="en-US" sz="293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49680" y="10414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714500" y="10287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Gaps in Current Solutions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14500" y="10922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3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Most VPNs lack API-level authentication, automated peer lifecycle management, and transparent post-quantum cryptographic hardening.</a:t>
            </a:r>
            <a:endParaRPr kumimoji="0" lang="en-US" sz="293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335000" y="3175000"/>
            <a:ext cx="9779000" cy="635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43000" y="3556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387846" y="0"/>
                  <a:pt x="394692" y="1488"/>
                  <a:pt x="400943" y="4316"/>
                </a:cubicBezTo>
                <a:lnTo>
                  <a:pt x="681335" y="123230"/>
                </a:lnTo>
                <a:cubicBezTo>
                  <a:pt x="714077" y="137071"/>
                  <a:pt x="738485" y="169366"/>
                  <a:pt x="738336" y="208359"/>
                </a:cubicBezTo>
                <a:cubicBezTo>
                  <a:pt x="737592" y="355997"/>
                  <a:pt x="676870" y="626120"/>
                  <a:pt x="420439" y="748903"/>
                </a:cubicBezTo>
                <a:cubicBezTo>
                  <a:pt x="395585" y="760809"/>
                  <a:pt x="366713" y="760809"/>
                  <a:pt x="341858" y="748903"/>
                </a:cubicBezTo>
                <a:cubicBezTo>
                  <a:pt x="85279" y="626120"/>
                  <a:pt x="24705" y="355997"/>
                  <a:pt x="23961" y="208359"/>
                </a:cubicBezTo>
                <a:cubicBezTo>
                  <a:pt x="23812" y="169366"/>
                  <a:pt x="48220" y="137071"/>
                  <a:pt x="80962" y="123230"/>
                </a:cubicBezTo>
                <a:lnTo>
                  <a:pt x="361206" y="4316"/>
                </a:lnTo>
                <a:cubicBezTo>
                  <a:pt x="367457" y="1488"/>
                  <a:pt x="374154" y="0"/>
                  <a:pt x="381000" y="0"/>
                </a:cubicBezTo>
                <a:close/>
                <a:moveTo>
                  <a:pt x="381000" y="99417"/>
                </a:moveTo>
                <a:lnTo>
                  <a:pt x="381000" y="662136"/>
                </a:lnTo>
                <a:cubicBezTo>
                  <a:pt x="586383" y="562719"/>
                  <a:pt x="641598" y="342454"/>
                  <a:pt x="642938" y="210592"/>
                </a:cubicBezTo>
                <a:lnTo>
                  <a:pt x="381000" y="99566"/>
                </a:lnTo>
                <a:lnTo>
                  <a:pt x="381000" y="99566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8" name="Text 16"/>
          <p:cNvSpPr/>
          <p:nvPr/>
        </p:nvSpPr>
        <p:spPr>
          <a:xfrm>
            <a:off x="13843000" y="4572000"/>
            <a:ext cx="876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EC0D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The Core Problem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843000" y="5334000"/>
            <a:ext cx="8763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Quantum computing threatens the foundational cryptography that secures all existing VPN deployments.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Without post-quantum protection, sensitive communications intercepted today will be decryptable in the near future.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1524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0" cap="none" spc="-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49680" y="24765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9680" y="3175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7EC0D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13000" y="3175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Post-Quantum WireGuard VPN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413000" y="3810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Design and implement WireGuard with Kyber-512 KEM-derived Pre-Shared Key for quantum-resistant tunnels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49680" y="5207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7EC0D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13000" y="5207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Secure Authenticated REST API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13000" y="5842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Build HMAC-SHA256 signed API for peer management with replay prevention and rate limiting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49680" y="7239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7EC0D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13000" y="723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Cloud Deployment on Azure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13000" y="7874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Deploy hardened Linux VPN server on Microsoft Azure with automated single-command installation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49680" y="9271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7EC0D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13000" y="9271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Defence-in-Depth Security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13000" y="9906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Implement least-privilege accounts, sudo wrappers, rate limiting, and anomaly detection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49680" y="11303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7EC0D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13000" y="11303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Cross-Platform Python Client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13000" y="11938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Provide Windows CLI client with GUI system-tray integration and crypto engine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757141F-FB8B-1099-20F7-4EEC39B44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1604" y="2311400"/>
            <a:ext cx="7487975" cy="1042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2032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0" cap="none" spc="-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Four-Layer System Architecture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49680" y="24765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3048000"/>
            <a:ext cx="10668000" cy="203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1249680" y="3048000"/>
            <a:ext cx="76200" cy="2032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587500" y="31750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EC0D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CLIENT LAYER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87500" y="3784600"/>
            <a:ext cx="1003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Python CLI/GUI, Crypto Engine (Kyber-512 + X25519), Tunnel Manager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23000" y="5080000"/>
            <a:ext cx="0" cy="31750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249680" y="5461000"/>
            <a:ext cx="10668000" cy="203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1249680" y="5461000"/>
            <a:ext cx="76200" cy="2032000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11" name="Text 9"/>
          <p:cNvSpPr/>
          <p:nvPr/>
        </p:nvSpPr>
        <p:spPr>
          <a:xfrm>
            <a:off x="1587500" y="55880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TRANSPORT LAYER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87500" y="6197600"/>
            <a:ext cx="1003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WireGuard (UDP 51820) + HTTPS API (TCP 443) for dual-channel communication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23000" y="7493000"/>
            <a:ext cx="0" cy="317500"/>
          </a:xfrm>
          <a:prstGeom prst="straightConnector1">
            <a:avLst/>
          </a:prstGeom>
          <a:noFill/>
          <a:ln w="25400">
            <a:solidFill>
              <a:srgbClr val="4F81BD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249680" y="7874000"/>
            <a:ext cx="10668000" cy="203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1249680" y="7874000"/>
            <a:ext cx="76200" cy="2032000"/>
          </a:xfrm>
          <a:prstGeom prst="rect">
            <a:avLst/>
          </a:prstGeom>
          <a:solidFill>
            <a:srgbClr val="4BACC6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8001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BACC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SERVER API LAYER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87500" y="8610600"/>
            <a:ext cx="1003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Nginx (TLS 1.3) → Gunicorn → Flask REST API with HMAC authentication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23000" y="9906000"/>
            <a:ext cx="0" cy="317500"/>
          </a:xfrm>
          <a:prstGeom prst="straightConnector1">
            <a:avLst/>
          </a:prstGeom>
          <a:noFill/>
          <a:ln w="25400">
            <a:solidFill>
              <a:srgbClr val="4BACC6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49680" y="10287000"/>
            <a:ext cx="10668000" cy="203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1249680" y="10287000"/>
            <a:ext cx="76200" cy="2032000"/>
          </a:xfrm>
          <a:prstGeom prst="rect">
            <a:avLst/>
          </a:prstGeom>
          <a:solidFill>
            <a:srgbClr val="9BBB59"/>
          </a:solidFill>
          <a:ln/>
        </p:spPr>
      </p:sp>
      <p:sp>
        <p:nvSpPr>
          <p:cNvPr id="21" name="Text 19"/>
          <p:cNvSpPr/>
          <p:nvPr/>
        </p:nvSpPr>
        <p:spPr>
          <a:xfrm>
            <a:off x="1587500" y="10414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SYSTEM LAYER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87500" y="11023600"/>
            <a:ext cx="1003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WireGuard kernel module, Redis, UFW firewall, systemd services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700000" y="3048000"/>
            <a:ext cx="10414000" cy="9271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13208000" y="3429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7EC0D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Key Components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3208000" y="4191000"/>
            <a:ext cx="93980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36575" y="4572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27" name="Text 25"/>
          <p:cNvSpPr/>
          <p:nvPr/>
        </p:nvSpPr>
        <p:spPr>
          <a:xfrm>
            <a:off x="13906500" y="45466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Flask REST API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906500" y="5080000"/>
            <a:ext cx="876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7 endpoints: health, status, add-peer, revoke-peer, audit, anomalies, pq-keygen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3265150" y="6223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0" name="Text 28"/>
          <p:cNvSpPr/>
          <p:nvPr/>
        </p:nvSpPr>
        <p:spPr>
          <a:xfrm>
            <a:off x="13906500" y="61976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Nginx + Gunicorn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3906500" y="6731000"/>
            <a:ext cx="876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TLS 1.3 termination, HSTS, security headers, rate limiting at reverse proxy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3236575" y="7874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3" name="Text 31"/>
          <p:cNvSpPr/>
          <p:nvPr/>
        </p:nvSpPr>
        <p:spPr>
          <a:xfrm>
            <a:off x="13906500" y="78486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Redis Backend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3906500" y="8382000"/>
            <a:ext cx="876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Distributed rate limiting with hardened config — dangerous commands disabled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3179425" y="9525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6" name="Text 34"/>
          <p:cNvSpPr/>
          <p:nvPr/>
        </p:nvSpPr>
        <p:spPr>
          <a:xfrm>
            <a:off x="13906500" y="94996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Azure Deployment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3906500" y="10033000"/>
            <a:ext cx="876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Standard B1s VM, Ubuntu 24.04 LTS, East US (Washington) region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762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016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400" b="1" kern="0" spc="-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Server-Side Components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44600" y="1916144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093116"/>
              </p:ext>
            </p:extLst>
          </p:nvPr>
        </p:nvGraphicFramePr>
        <p:xfrm>
          <a:off x="1244600" y="2457576"/>
          <a:ext cx="21894800" cy="6438895"/>
        </p:xfrm>
        <a:graphic>
          <a:graphicData uri="http://schemas.openxmlformats.org/drawingml/2006/table">
            <a:tbl>
              <a:tblPr/>
              <a:tblGrid>
                <a:gridCol w="5485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9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8451">
                <a:tc>
                  <a:txBody>
                    <a:bodyPr/>
                    <a:lstStyle/>
                    <a:p>
                      <a:pPr algn="l"/>
                      <a:r>
                        <a:rPr lang="en-US" sz="2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Endpoint</a:t>
                      </a:r>
                      <a:endParaRPr lang="en-US" sz="2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Method</a:t>
                      </a:r>
                      <a:endParaRPr lang="en-US" sz="2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2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1492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/api/v1/health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Unauthenticated health check — returns API, WireGuard, and system status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492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/api/v1/status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WireGuard interface status and complete peer list with transfer statistics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1492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/api/v1/add-peer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POST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Register new peer, trigger Kyber-512 KEM encapsulation and PSK derivation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1492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/api/v1/revoke-peer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POST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Remove peer from WireGuard configuration and revoke all access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1492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/api/v1/audit-peers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Peer lifecycle audit — classifies peers as active, expiring, expired, or unknown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1492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/api/v1/anomalies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Handshake timeout and traffic anomaly detection for security monitoring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1492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/api/v1/pq-keygen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POST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Server-side Kyber-512 keypair generation for post-quantum operations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244600" y="9466429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Stack</a:t>
            </a:r>
            <a:endParaRPr lang="en-US" sz="2400" dirty="0"/>
          </a:p>
        </p:txBody>
      </p:sp>
      <p:sp>
        <p:nvSpPr>
          <p:cNvPr id="5" name="Shape 4"/>
          <p:cNvSpPr/>
          <p:nvPr/>
        </p:nvSpPr>
        <p:spPr>
          <a:xfrm>
            <a:off x="1244600" y="10101429"/>
            <a:ext cx="5080000" cy="205740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5"/>
          <p:cNvSpPr/>
          <p:nvPr/>
        </p:nvSpPr>
        <p:spPr>
          <a:xfrm>
            <a:off x="1524000" y="1029192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9" name="Text 6"/>
          <p:cNvSpPr/>
          <p:nvPr/>
        </p:nvSpPr>
        <p:spPr>
          <a:xfrm>
            <a:off x="2032000" y="10253829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WireGuard Interface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524000" y="10736429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Kernel-space wg0 on UDP 51820, VPN subnet 10.77.0.1/24, NAT masquerading via iptables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680200" y="10101429"/>
            <a:ext cx="5080000" cy="205740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9"/>
          <p:cNvSpPr/>
          <p:nvPr/>
        </p:nvSpPr>
        <p:spPr>
          <a:xfrm>
            <a:off x="6959600" y="1029192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3" name="Text 10"/>
          <p:cNvSpPr/>
          <p:nvPr/>
        </p:nvSpPr>
        <p:spPr>
          <a:xfrm>
            <a:off x="7467600" y="10253829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Gunicorn WSGI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959600" y="10736429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worker processes (gthread, 2 threads each) bound to UNIX socket /run/wg-api/wg-api.sock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2115800" y="10101429"/>
            <a:ext cx="5080000" cy="205740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2395200" y="1029192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7" name="Text 14"/>
          <p:cNvSpPr/>
          <p:nvPr/>
        </p:nvSpPr>
        <p:spPr>
          <a:xfrm>
            <a:off x="12903200" y="10253829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Nginx Reverse Proxy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2395200" y="10736429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1.3 termination on port 443, forwards to Gunicorn UNIX socket, rate limiting 20 req/min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7551400" y="10101428"/>
            <a:ext cx="5588000" cy="205740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Shape 17"/>
          <p:cNvSpPr/>
          <p:nvPr/>
        </p:nvSpPr>
        <p:spPr>
          <a:xfrm>
            <a:off x="17853025" y="10291929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21" name="Text 18"/>
          <p:cNvSpPr/>
          <p:nvPr/>
        </p:nvSpPr>
        <p:spPr>
          <a:xfrm>
            <a:off x="18338800" y="10253829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 Backend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7830800" y="10736429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Flask-Limiter distributed rate limiting, localhost-only, dangerous commands disabled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22860000" y="12954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762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016000"/>
            <a:ext cx="152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400" b="1" kern="0" spc="-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 Sequence &amp; Client Design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44600" y="1841500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" name="Text 3"/>
          <p:cNvSpPr/>
          <p:nvPr/>
        </p:nvSpPr>
        <p:spPr>
          <a:xfrm>
            <a:off x="1244600" y="2300771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PQ Registration 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244600" y="3122380"/>
            <a:ext cx="3937000" cy="291944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1397000" y="3249381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97000" y="3693881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generates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Curve25519 and Kyber-512 keypairs locally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181600" y="4074881"/>
            <a:ext cx="381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562600" y="3122380"/>
            <a:ext cx="3937000" cy="291944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3249381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715000" y="3693881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/add-peer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client public keys to API server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499600" y="4074881"/>
            <a:ext cx="381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880600" y="3122380"/>
            <a:ext cx="3937000" cy="291944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33000" y="3249381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033000" y="3693881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encapsulates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KEM secret and derives PSK via HKDF-SHA3-256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3817600" y="4074881"/>
            <a:ext cx="381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4198600" y="3122380"/>
            <a:ext cx="3937000" cy="291944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14351000" y="3249381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351000" y="3693881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wg set peer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client PK and KEM-derived PSK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8135600" y="4074881"/>
            <a:ext cx="381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8516600" y="2991753"/>
            <a:ext cx="4622800" cy="305007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18669000" y="3249381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8669000" y="3693881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decapsulates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KEM secret, derives matching PSK, establishes UDP tunnel via Noise IKpsk2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244600" y="7188975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 Client — CLI Commands</a:t>
            </a:r>
            <a:endParaRPr lang="en-US" sz="4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315542"/>
              </p:ext>
            </p:extLst>
          </p:nvPr>
        </p:nvGraphicFramePr>
        <p:xfrm>
          <a:off x="1244600" y="7917281"/>
          <a:ext cx="12725401" cy="4343136"/>
        </p:xfrm>
        <a:graphic>
          <a:graphicData uri="http://schemas.openxmlformats.org/drawingml/2006/table">
            <a:tbl>
              <a:tblPr/>
              <a:tblGrid>
                <a:gridCol w="3817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7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448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Command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48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keygen 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Generate keypair and register peer with server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48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up --profile 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Establish WireGuard tunnel with KEM-derived PSK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48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down --profile 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Disconnect and remove tunnel configuration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48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status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Display tunnel status and transfer statistics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48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verify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Run DNS/IP leak test to confirm VPN routing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48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rotate-psk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Rotate post-quantum PSK via re-encapsulation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14537094" y="7188975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Crypto Engine</a:t>
            </a:r>
            <a:endParaRPr lang="en-US" sz="4000" dirty="0"/>
          </a:p>
        </p:txBody>
      </p:sp>
      <p:sp>
        <p:nvSpPr>
          <p:cNvPr id="28" name="Shape 25"/>
          <p:cNvSpPr/>
          <p:nvPr/>
        </p:nvSpPr>
        <p:spPr>
          <a:xfrm>
            <a:off x="14537094" y="7917280"/>
            <a:ext cx="8602306" cy="434314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9" name="Text 26"/>
          <p:cNvSpPr/>
          <p:nvPr/>
        </p:nvSpPr>
        <p:spPr>
          <a:xfrm>
            <a:off x="14920941" y="8171280"/>
            <a:ext cx="9804400" cy="37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X25519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keypair generation (Curve25519)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Kyber-512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KEM key generation &amp; encapsulation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HKDF-SHA3-256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PSK derivation from KEM secret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AES-256-GCM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credential encryption via DPAPI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HMAC-SHA256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API request signing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1.3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certificate fingerprint pinning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22860000" y="12954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762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016000"/>
            <a:ext cx="152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400" b="1" kern="0" spc="-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Post-Quantum Key Exchange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44600" y="1878822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" name="Shape 3"/>
          <p:cNvSpPr/>
          <p:nvPr/>
        </p:nvSpPr>
        <p:spPr>
          <a:xfrm>
            <a:off x="1244600" y="2446427"/>
            <a:ext cx="6731000" cy="499394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1244600" y="2446429"/>
            <a:ext cx="6731000" cy="76200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7" name="Shape 5"/>
          <p:cNvSpPr/>
          <p:nvPr/>
        </p:nvSpPr>
        <p:spPr>
          <a:xfrm>
            <a:off x="1651000" y="282742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6700" y="279400"/>
                </a:moveTo>
                <a:cubicBezTo>
                  <a:pt x="343853" y="279400"/>
                  <a:pt x="406400" y="216853"/>
                  <a:pt x="406400" y="139700"/>
                </a:cubicBezTo>
                <a:cubicBezTo>
                  <a:pt x="406400" y="62548"/>
                  <a:pt x="343853" y="0"/>
                  <a:pt x="266700" y="0"/>
                </a:cubicBezTo>
                <a:cubicBezTo>
                  <a:pt x="189548" y="0"/>
                  <a:pt x="127000" y="62547"/>
                  <a:pt x="127000" y="139700"/>
                </a:cubicBezTo>
                <a:cubicBezTo>
                  <a:pt x="127000" y="154543"/>
                  <a:pt x="129302" y="168910"/>
                  <a:pt x="133588" y="182324"/>
                </a:cubicBezTo>
                <a:lnTo>
                  <a:pt x="5556" y="310356"/>
                </a:lnTo>
                <a:cubicBezTo>
                  <a:pt x="1984" y="313928"/>
                  <a:pt x="0" y="318770"/>
                  <a:pt x="0" y="323850"/>
                </a:cubicBezTo>
                <a:lnTo>
                  <a:pt x="0" y="387350"/>
                </a:lnTo>
                <a:cubicBezTo>
                  <a:pt x="0" y="397907"/>
                  <a:pt x="8493" y="406400"/>
                  <a:pt x="19050" y="406400"/>
                </a:cubicBezTo>
                <a:lnTo>
                  <a:pt x="82550" y="406400"/>
                </a:lnTo>
                <a:cubicBezTo>
                  <a:pt x="93107" y="406400"/>
                  <a:pt x="101600" y="397907"/>
                  <a:pt x="101600" y="387350"/>
                </a:cubicBezTo>
                <a:lnTo>
                  <a:pt x="101600" y="355600"/>
                </a:lnTo>
                <a:lnTo>
                  <a:pt x="133350" y="355600"/>
                </a:lnTo>
                <a:cubicBezTo>
                  <a:pt x="143907" y="355600"/>
                  <a:pt x="152400" y="347107"/>
                  <a:pt x="152400" y="336550"/>
                </a:cubicBezTo>
                <a:lnTo>
                  <a:pt x="152400" y="304800"/>
                </a:lnTo>
                <a:lnTo>
                  <a:pt x="184150" y="304800"/>
                </a:lnTo>
                <a:cubicBezTo>
                  <a:pt x="189230" y="304800"/>
                  <a:pt x="194072" y="302816"/>
                  <a:pt x="197644" y="299244"/>
                </a:cubicBezTo>
                <a:lnTo>
                  <a:pt x="224076" y="272812"/>
                </a:lnTo>
                <a:cubicBezTo>
                  <a:pt x="237490" y="277098"/>
                  <a:pt x="251857" y="279400"/>
                  <a:pt x="266700" y="279400"/>
                </a:cubicBezTo>
                <a:close/>
                <a:moveTo>
                  <a:pt x="298450" y="76200"/>
                </a:moveTo>
                <a:cubicBezTo>
                  <a:pt x="315973" y="76200"/>
                  <a:pt x="330200" y="90427"/>
                  <a:pt x="330200" y="107950"/>
                </a:cubicBezTo>
                <a:cubicBezTo>
                  <a:pt x="330200" y="125473"/>
                  <a:pt x="315973" y="139700"/>
                  <a:pt x="298450" y="139700"/>
                </a:cubicBezTo>
                <a:cubicBezTo>
                  <a:pt x="280927" y="139700"/>
                  <a:pt x="266700" y="125473"/>
                  <a:pt x="266700" y="107950"/>
                </a:cubicBezTo>
                <a:cubicBezTo>
                  <a:pt x="266700" y="90427"/>
                  <a:pt x="280927" y="76200"/>
                  <a:pt x="298450" y="76200"/>
                </a:cubicBezTo>
                <a:close/>
              </a:path>
            </a:pathLst>
          </a:custGeom>
          <a:solidFill>
            <a:srgbClr val="4F81BD"/>
          </a:solidFill>
          <a:ln/>
        </p:spPr>
      </p:sp>
      <p:sp>
        <p:nvSpPr>
          <p:cNvPr id="8" name="Text 6"/>
          <p:cNvSpPr/>
          <p:nvPr/>
        </p:nvSpPr>
        <p:spPr>
          <a:xfrm>
            <a:off x="2222500" y="2827429"/>
            <a:ext cx="533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Classical Layer: X25519 ECDH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651000" y="3462429"/>
            <a:ext cx="596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WireGuard's standard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Elliptic Curve Diffie-Hellman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handshake using Curve25519.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Security: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IND-CCA2 secure against classical adversaries.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Vulnerability: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Broken by Shor's algorithm on quantum computers.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53400" y="4308398"/>
            <a:ext cx="55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890000" y="2446428"/>
            <a:ext cx="6731000" cy="499394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8890000" y="2446429"/>
            <a:ext cx="6731000" cy="762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3" name="Shape 11"/>
          <p:cNvSpPr/>
          <p:nvPr/>
        </p:nvSpPr>
        <p:spPr>
          <a:xfrm>
            <a:off x="9321800" y="2827429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316548"/>
                </a:moveTo>
                <a:cubicBezTo>
                  <a:pt x="168434" y="320596"/>
                  <a:pt x="159226" y="324247"/>
                  <a:pt x="150098" y="327263"/>
                </a:cubicBezTo>
                <a:cubicBezTo>
                  <a:pt x="163354" y="354092"/>
                  <a:pt x="174704" y="355600"/>
                  <a:pt x="177800" y="355600"/>
                </a:cubicBezTo>
                <a:cubicBezTo>
                  <a:pt x="180896" y="355600"/>
                  <a:pt x="192167" y="354092"/>
                  <a:pt x="205502" y="327263"/>
                </a:cubicBezTo>
                <a:cubicBezTo>
                  <a:pt x="196453" y="324168"/>
                  <a:pt x="187166" y="320596"/>
                  <a:pt x="177800" y="316548"/>
                </a:cubicBezTo>
                <a:close/>
                <a:moveTo>
                  <a:pt x="328613" y="203200"/>
                </a:moveTo>
                <a:cubicBezTo>
                  <a:pt x="354806" y="239078"/>
                  <a:pt x="363776" y="275352"/>
                  <a:pt x="347345" y="304800"/>
                </a:cubicBezTo>
                <a:cubicBezTo>
                  <a:pt x="331311" y="333613"/>
                  <a:pt x="297736" y="343932"/>
                  <a:pt x="255905" y="339090"/>
                </a:cubicBezTo>
                <a:cubicBezTo>
                  <a:pt x="238443" y="380444"/>
                  <a:pt x="211693" y="406400"/>
                  <a:pt x="177800" y="406400"/>
                </a:cubicBezTo>
                <a:cubicBezTo>
                  <a:pt x="143907" y="406400"/>
                  <a:pt x="117158" y="380444"/>
                  <a:pt x="99695" y="339090"/>
                </a:cubicBezTo>
                <a:cubicBezTo>
                  <a:pt x="57864" y="343932"/>
                  <a:pt x="24289" y="333613"/>
                  <a:pt x="8255" y="304800"/>
                </a:cubicBezTo>
                <a:cubicBezTo>
                  <a:pt x="-8176" y="275352"/>
                  <a:pt x="794" y="239078"/>
                  <a:pt x="26988" y="203200"/>
                </a:cubicBezTo>
                <a:cubicBezTo>
                  <a:pt x="794" y="167323"/>
                  <a:pt x="-8176" y="131048"/>
                  <a:pt x="8255" y="101600"/>
                </a:cubicBezTo>
                <a:cubicBezTo>
                  <a:pt x="24289" y="72787"/>
                  <a:pt x="57864" y="62468"/>
                  <a:pt x="99695" y="67310"/>
                </a:cubicBezTo>
                <a:cubicBezTo>
                  <a:pt x="117157" y="25956"/>
                  <a:pt x="143828" y="0"/>
                  <a:pt x="177800" y="0"/>
                </a:cubicBezTo>
                <a:cubicBezTo>
                  <a:pt x="211773" y="0"/>
                  <a:pt x="238442" y="25956"/>
                  <a:pt x="255905" y="67310"/>
                </a:cubicBezTo>
                <a:cubicBezTo>
                  <a:pt x="297736" y="62468"/>
                  <a:pt x="331311" y="72708"/>
                  <a:pt x="347345" y="101600"/>
                </a:cubicBezTo>
                <a:cubicBezTo>
                  <a:pt x="363776" y="131048"/>
                  <a:pt x="354806" y="167323"/>
                  <a:pt x="328612" y="203200"/>
                </a:cubicBezTo>
                <a:close/>
                <a:moveTo>
                  <a:pt x="276384" y="256699"/>
                </a:moveTo>
                <a:cubicBezTo>
                  <a:pt x="275034" y="267970"/>
                  <a:pt x="273288" y="278924"/>
                  <a:pt x="271066" y="289401"/>
                </a:cubicBezTo>
                <a:cubicBezTo>
                  <a:pt x="296307" y="290512"/>
                  <a:pt x="301704" y="282496"/>
                  <a:pt x="302974" y="280114"/>
                </a:cubicBezTo>
                <a:cubicBezTo>
                  <a:pt x="304800" y="276781"/>
                  <a:pt x="308531" y="265906"/>
                  <a:pt x="293529" y="241935"/>
                </a:cubicBezTo>
                <a:cubicBezTo>
                  <a:pt x="288131" y="246936"/>
                  <a:pt x="282416" y="251857"/>
                  <a:pt x="276384" y="256699"/>
                </a:cubicBezTo>
                <a:close/>
                <a:moveTo>
                  <a:pt x="271066" y="117078"/>
                </a:moveTo>
                <a:cubicBezTo>
                  <a:pt x="273288" y="127476"/>
                  <a:pt x="275034" y="138430"/>
                  <a:pt x="276384" y="149781"/>
                </a:cubicBezTo>
                <a:cubicBezTo>
                  <a:pt x="282416" y="154622"/>
                  <a:pt x="288131" y="159544"/>
                  <a:pt x="293529" y="164544"/>
                </a:cubicBezTo>
                <a:cubicBezTo>
                  <a:pt x="308531" y="140573"/>
                  <a:pt x="304800" y="129619"/>
                  <a:pt x="302974" y="126365"/>
                </a:cubicBezTo>
                <a:cubicBezTo>
                  <a:pt x="301704" y="124063"/>
                  <a:pt x="296307" y="116046"/>
                  <a:pt x="271066" y="117078"/>
                </a:cubicBezTo>
                <a:close/>
                <a:moveTo>
                  <a:pt x="205502" y="79137"/>
                </a:moveTo>
                <a:cubicBezTo>
                  <a:pt x="192167" y="52308"/>
                  <a:pt x="180896" y="50800"/>
                  <a:pt x="177800" y="50800"/>
                </a:cubicBezTo>
                <a:cubicBezTo>
                  <a:pt x="174704" y="50800"/>
                  <a:pt x="163433" y="52308"/>
                  <a:pt x="150098" y="79137"/>
                </a:cubicBezTo>
                <a:cubicBezTo>
                  <a:pt x="159147" y="82233"/>
                  <a:pt x="168434" y="85804"/>
                  <a:pt x="177800" y="89853"/>
                </a:cubicBezTo>
                <a:cubicBezTo>
                  <a:pt x="187166" y="85804"/>
                  <a:pt x="196374" y="82153"/>
                  <a:pt x="205502" y="79137"/>
                </a:cubicBezTo>
                <a:close/>
                <a:moveTo>
                  <a:pt x="79296" y="149701"/>
                </a:moveTo>
                <a:cubicBezTo>
                  <a:pt x="80645" y="138351"/>
                  <a:pt x="82391" y="127476"/>
                  <a:pt x="84614" y="116999"/>
                </a:cubicBezTo>
                <a:cubicBezTo>
                  <a:pt x="59372" y="115888"/>
                  <a:pt x="53975" y="123904"/>
                  <a:pt x="52705" y="126286"/>
                </a:cubicBezTo>
                <a:cubicBezTo>
                  <a:pt x="50879" y="129619"/>
                  <a:pt x="47149" y="140494"/>
                  <a:pt x="62151" y="164465"/>
                </a:cubicBezTo>
                <a:cubicBezTo>
                  <a:pt x="67548" y="159464"/>
                  <a:pt x="73263" y="154543"/>
                  <a:pt x="79296" y="149701"/>
                </a:cubicBezTo>
                <a:close/>
                <a:moveTo>
                  <a:pt x="62071" y="241935"/>
                </a:moveTo>
                <a:cubicBezTo>
                  <a:pt x="47069" y="265906"/>
                  <a:pt x="50800" y="276860"/>
                  <a:pt x="52626" y="280114"/>
                </a:cubicBezTo>
                <a:cubicBezTo>
                  <a:pt x="53896" y="282416"/>
                  <a:pt x="59293" y="290433"/>
                  <a:pt x="84534" y="289401"/>
                </a:cubicBezTo>
                <a:cubicBezTo>
                  <a:pt x="82312" y="279003"/>
                  <a:pt x="80566" y="268049"/>
                  <a:pt x="79216" y="256699"/>
                </a:cubicBezTo>
                <a:cubicBezTo>
                  <a:pt x="73184" y="251857"/>
                  <a:pt x="67469" y="246936"/>
                  <a:pt x="62071" y="241935"/>
                </a:cubicBezTo>
                <a:close/>
                <a:moveTo>
                  <a:pt x="241300" y="203200"/>
                </a:moveTo>
                <a:cubicBezTo>
                  <a:pt x="241300" y="168153"/>
                  <a:pt x="212847" y="139700"/>
                  <a:pt x="177800" y="139700"/>
                </a:cubicBezTo>
                <a:cubicBezTo>
                  <a:pt x="142753" y="139700"/>
                  <a:pt x="114300" y="168153"/>
                  <a:pt x="114300" y="203200"/>
                </a:cubicBezTo>
                <a:cubicBezTo>
                  <a:pt x="114300" y="238247"/>
                  <a:pt x="142753" y="266700"/>
                  <a:pt x="177800" y="266700"/>
                </a:cubicBezTo>
                <a:cubicBezTo>
                  <a:pt x="212847" y="266700"/>
                  <a:pt x="241300" y="238247"/>
                  <a:pt x="241300" y="203200"/>
                </a:cubicBezTo>
                <a:close/>
                <a:moveTo>
                  <a:pt x="177800" y="177800"/>
                </a:moveTo>
                <a:cubicBezTo>
                  <a:pt x="191819" y="177800"/>
                  <a:pt x="203200" y="189181"/>
                  <a:pt x="203200" y="203200"/>
                </a:cubicBezTo>
                <a:cubicBezTo>
                  <a:pt x="203200" y="217219"/>
                  <a:pt x="191819" y="228600"/>
                  <a:pt x="177800" y="228600"/>
                </a:cubicBezTo>
                <a:cubicBezTo>
                  <a:pt x="163781" y="228600"/>
                  <a:pt x="152400" y="217219"/>
                  <a:pt x="152400" y="203200"/>
                </a:cubicBezTo>
                <a:cubicBezTo>
                  <a:pt x="152400" y="189181"/>
                  <a:pt x="163781" y="177800"/>
                  <a:pt x="177800" y="1778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9867900" y="2827429"/>
            <a:ext cx="533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PQ Layer: Kyber-512 KEM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9296400" y="3462429"/>
            <a:ext cx="596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Encapsulation via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Module-LWE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Fujisaki-Okamoto transform.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Security: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IND-CCA2 quantum-resistant security.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Shared secret derived as WireGuard PSK via HKDF-SHA3-256.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5773400" y="4308398"/>
            <a:ext cx="55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6535400" y="2446428"/>
            <a:ext cx="6604000" cy="4993942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6535400" y="2446429"/>
            <a:ext cx="6604000" cy="76200"/>
          </a:xfrm>
          <a:prstGeom prst="rect">
            <a:avLst/>
          </a:prstGeom>
          <a:solidFill>
            <a:srgbClr val="9BBB59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41800" y="282742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9BBB59"/>
          </a:solidFill>
          <a:ln/>
        </p:spPr>
      </p:sp>
      <p:sp>
        <p:nvSpPr>
          <p:cNvPr id="20" name="Text 18"/>
          <p:cNvSpPr/>
          <p:nvPr/>
        </p:nvSpPr>
        <p:spPr>
          <a:xfrm>
            <a:off x="17513300" y="2827429"/>
            <a:ext cx="533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Security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16941800" y="3462429"/>
            <a:ext cx="584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Adversary must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 BOTH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X25519 ECDH AND Kyber-512 to compromise the session.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Breaking only one leaves the other layer intact.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"Belts and suspenders"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approach to cryptographic security.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244600" y="8464769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Characteristics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244600" y="9115991"/>
            <a:ext cx="50800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1651000" y="9242991"/>
            <a:ext cx="4267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~19 ms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1651000" y="10068491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PQ overhead for peer registration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680200" y="9115991"/>
            <a:ext cx="50800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9242991"/>
            <a:ext cx="4267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ms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7086600" y="10068491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In-band traffic routing overhead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2115800" y="9115991"/>
            <a:ext cx="50800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0" name="Text 28"/>
          <p:cNvSpPr/>
          <p:nvPr/>
        </p:nvSpPr>
        <p:spPr>
          <a:xfrm>
            <a:off x="12522200" y="9242991"/>
            <a:ext cx="4267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Out-of-Band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12522200" y="10068491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PQ operations only during registration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7551400" y="9115991"/>
            <a:ext cx="55880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3" name="Text 31"/>
          <p:cNvSpPr/>
          <p:nvPr/>
        </p:nvSpPr>
        <p:spPr>
          <a:xfrm>
            <a:off x="17957800" y="9242991"/>
            <a:ext cx="4775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ChaCha20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17957800" y="10068491"/>
            <a:ext cx="477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Kernel-space Poly1305 for in-band traffic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244600" y="11166654"/>
            <a:ext cx="21894800" cy="101600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1651000" y="11420654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7" name="Text 35"/>
          <p:cNvSpPr/>
          <p:nvPr/>
        </p:nvSpPr>
        <p:spPr>
          <a:xfrm>
            <a:off x="2222500" y="11293654"/>
            <a:ext cx="2057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~19ms overhead occurs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exclusively during out-of-band registration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via the REST API. In-band WireGuard traffic uses highly optimized kernel-space ChaCha20-Poly1305 with the KEM-derived PSK —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performance impact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22860000" y="12954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762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016000"/>
            <a:ext cx="152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400" b="1" kern="0" spc="-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Kyber-512 KEM Implementation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44600" y="1860161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" name="Shape 3"/>
          <p:cNvSpPr/>
          <p:nvPr/>
        </p:nvSpPr>
        <p:spPr>
          <a:xfrm>
            <a:off x="1244600" y="2297144"/>
            <a:ext cx="6858000" cy="456085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1587500" y="2487644"/>
            <a:ext cx="622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Module-LWE Hardness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87500" y="3059144"/>
            <a:ext cx="6223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based on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Learning With Errors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</a:t>
            </a:r>
            <a:r>
              <a:rPr lang="en-US" sz="2400" baseline="-4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</a:t>
            </a:r>
            <a:r>
              <a:rPr lang="en-US" sz="2400" baseline="-4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[x]/(x</a:t>
            </a:r>
            <a:r>
              <a:rPr lang="en-US" sz="2400" baseline="3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+1)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Parameters: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256, q = 3329, k = 2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Ring dimension 512, security level ~AES-128 equivalent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483600" y="2297144"/>
            <a:ext cx="6858000" cy="456085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8826500" y="2487644"/>
            <a:ext cx="622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Fujisaki-Okamoto Transform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826500" y="3059144"/>
            <a:ext cx="6223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Converts CPA-secure PKE to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IND-CCA2 KEM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Deterministic randomness: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 = SHA3-512(m||H(pk))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Constant-time comparison via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hmac.compare_digest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Implicit rejection on mismatch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5722600" y="2297144"/>
            <a:ext cx="7416800" cy="456085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16065500" y="2487644"/>
            <a:ext cx="673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PSK Derivation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65500" y="3059144"/>
            <a:ext cx="673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KEM shared secret via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HKDF-SHA3-256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32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salt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None |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"SecureVPN-PQ-PSK-v1"</a:t>
            </a:r>
            <a:endParaRPr lang="en-US" sz="32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length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32 bytes</a:t>
            </a:r>
            <a:endParaRPr lang="en-US" sz="32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separation prevents PSK confusion with other keys.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244600" y="7629849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Request Authentication &amp; Transport Security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44600" y="8264849"/>
            <a:ext cx="10414000" cy="359099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8518849"/>
            <a:ext cx="97282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HMAC-SHA256 Request Signing: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sig = HMAC-SHA256(k, METHOD||":"||path||":"||t||":"||H</a:t>
            </a:r>
            <a:r>
              <a:rPr lang="en-US" sz="2400" baseline="-4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SHA256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(body))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300-second replay window: server rejects |t</a:t>
            </a:r>
            <a:r>
              <a:rPr lang="en-US" sz="2400" baseline="-4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t</a:t>
            </a:r>
            <a:r>
              <a:rPr lang="en-US" sz="2400" baseline="-4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&gt; 300s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Signature in X-Signature header alongside X-API-Key and X-Timestamp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12014200" y="8264849"/>
            <a:ext cx="11125200" cy="359099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12357100" y="8518849"/>
            <a:ext cx="104394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 Layer Security: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TLS 1.3 with 4096-bit RSA server certificate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 pins server TLS certificate SHA-256 fingerprint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Prevents MITM attacks via rogue certificates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Plain HTTP on port 80 refused — HTTPS-only API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2860000" y="12954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2032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0" cap="none" spc="-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Defence-in-Depth Security Controls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49680" y="24765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9680" y="3048000"/>
            <a:ext cx="6985000" cy="2921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1249680" y="3048000"/>
            <a:ext cx="6985000" cy="635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Shape 4"/>
          <p:cNvSpPr/>
          <p:nvPr/>
        </p:nvSpPr>
        <p:spPr>
          <a:xfrm>
            <a:off x="1558925" y="342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21456" y="78581"/>
                </a:moveTo>
                <a:lnTo>
                  <a:pt x="292894" y="78581"/>
                </a:lnTo>
                <a:lnTo>
                  <a:pt x="292894" y="121444"/>
                </a:lnTo>
                <a:lnTo>
                  <a:pt x="221456" y="121444"/>
                </a:lnTo>
                <a:lnTo>
                  <a:pt x="221456" y="78581"/>
                </a:lnTo>
                <a:close/>
                <a:moveTo>
                  <a:pt x="214313" y="28575"/>
                </a:moveTo>
                <a:cubicBezTo>
                  <a:pt x="190649" y="28575"/>
                  <a:pt x="171450" y="47774"/>
                  <a:pt x="171450" y="71438"/>
                </a:cubicBezTo>
                <a:lnTo>
                  <a:pt x="171450" y="128588"/>
                </a:lnTo>
                <a:cubicBezTo>
                  <a:pt x="171450" y="152251"/>
                  <a:pt x="190649" y="171450"/>
                  <a:pt x="214313" y="171450"/>
                </a:cubicBezTo>
                <a:lnTo>
                  <a:pt x="228600" y="171450"/>
                </a:lnTo>
                <a:lnTo>
                  <a:pt x="22860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14300" y="257175"/>
                </a:lnTo>
                <a:lnTo>
                  <a:pt x="114300" y="285750"/>
                </a:lnTo>
                <a:lnTo>
                  <a:pt x="100013" y="285750"/>
                </a:lnTo>
                <a:cubicBezTo>
                  <a:pt x="76349" y="285750"/>
                  <a:pt x="57150" y="304949"/>
                  <a:pt x="57150" y="328613"/>
                </a:cubicBezTo>
                <a:lnTo>
                  <a:pt x="57150" y="385763"/>
                </a:lnTo>
                <a:cubicBezTo>
                  <a:pt x="57150" y="409426"/>
                  <a:pt x="76349" y="428625"/>
                  <a:pt x="100013" y="428625"/>
                </a:cubicBezTo>
                <a:lnTo>
                  <a:pt x="185738" y="428625"/>
                </a:lnTo>
                <a:cubicBezTo>
                  <a:pt x="209401" y="428625"/>
                  <a:pt x="228600" y="409426"/>
                  <a:pt x="228600" y="385763"/>
                </a:cubicBezTo>
                <a:lnTo>
                  <a:pt x="228600" y="328613"/>
                </a:lnTo>
                <a:cubicBezTo>
                  <a:pt x="228600" y="304949"/>
                  <a:pt x="209401" y="285750"/>
                  <a:pt x="185738" y="285750"/>
                </a:cubicBezTo>
                <a:lnTo>
                  <a:pt x="171450" y="285750"/>
                </a:lnTo>
                <a:lnTo>
                  <a:pt x="171450" y="257175"/>
                </a:lnTo>
                <a:lnTo>
                  <a:pt x="342900" y="257175"/>
                </a:lnTo>
                <a:lnTo>
                  <a:pt x="342900" y="285750"/>
                </a:lnTo>
                <a:lnTo>
                  <a:pt x="328613" y="285750"/>
                </a:lnTo>
                <a:cubicBezTo>
                  <a:pt x="304949" y="285750"/>
                  <a:pt x="285750" y="304949"/>
                  <a:pt x="285750" y="328613"/>
                </a:cubicBezTo>
                <a:lnTo>
                  <a:pt x="285750" y="385763"/>
                </a:lnTo>
                <a:cubicBezTo>
                  <a:pt x="285750" y="409426"/>
                  <a:pt x="304949" y="428625"/>
                  <a:pt x="32861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328613"/>
                </a:lnTo>
                <a:cubicBezTo>
                  <a:pt x="457200" y="304949"/>
                  <a:pt x="438001" y="285750"/>
                  <a:pt x="414338" y="285750"/>
                </a:cubicBezTo>
                <a:lnTo>
                  <a:pt x="400050" y="285750"/>
                </a:lnTo>
                <a:lnTo>
                  <a:pt x="400050" y="257175"/>
                </a:lnTo>
                <a:lnTo>
                  <a:pt x="485775" y="257175"/>
                </a:lnTo>
                <a:cubicBezTo>
                  <a:pt x="501581" y="257175"/>
                  <a:pt x="514350" y="244406"/>
                  <a:pt x="514350" y="228600"/>
                </a:cubicBezTo>
                <a:cubicBezTo>
                  <a:pt x="514350" y="212794"/>
                  <a:pt x="501581" y="200025"/>
                  <a:pt x="485775" y="200025"/>
                </a:cubicBezTo>
                <a:lnTo>
                  <a:pt x="285750" y="200025"/>
                </a:lnTo>
                <a:lnTo>
                  <a:pt x="285750" y="171450"/>
                </a:lnTo>
                <a:lnTo>
                  <a:pt x="300038" y="171450"/>
                </a:lnTo>
                <a:cubicBezTo>
                  <a:pt x="323701" y="171450"/>
                  <a:pt x="342900" y="152251"/>
                  <a:pt x="342900" y="128588"/>
                </a:cubicBezTo>
                <a:lnTo>
                  <a:pt x="342900" y="71438"/>
                </a:lnTo>
                <a:cubicBezTo>
                  <a:pt x="342900" y="47774"/>
                  <a:pt x="323701" y="28575"/>
                  <a:pt x="300038" y="28575"/>
                </a:cubicBezTo>
                <a:lnTo>
                  <a:pt x="214313" y="28575"/>
                </a:lnTo>
                <a:close/>
                <a:moveTo>
                  <a:pt x="400050" y="335756"/>
                </a:moveTo>
                <a:lnTo>
                  <a:pt x="407194" y="335756"/>
                </a:lnTo>
                <a:lnTo>
                  <a:pt x="407194" y="378619"/>
                </a:lnTo>
                <a:lnTo>
                  <a:pt x="335756" y="378619"/>
                </a:lnTo>
                <a:lnTo>
                  <a:pt x="335756" y="335756"/>
                </a:lnTo>
                <a:lnTo>
                  <a:pt x="400050" y="335756"/>
                </a:lnTo>
                <a:close/>
                <a:moveTo>
                  <a:pt x="171450" y="335756"/>
                </a:moveTo>
                <a:lnTo>
                  <a:pt x="178594" y="335756"/>
                </a:lnTo>
                <a:lnTo>
                  <a:pt x="178594" y="378619"/>
                </a:lnTo>
                <a:lnTo>
                  <a:pt x="107156" y="378619"/>
                </a:lnTo>
                <a:lnTo>
                  <a:pt x="107156" y="335756"/>
                </a:lnTo>
                <a:lnTo>
                  <a:pt x="171450" y="335756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2222500" y="34036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Network Security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87500" y="40640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TLS 1.3 with strong cipher suites, certificate fingerprint pinning, HTTPS-only API, UFW default-deny firewall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99500" y="3048000"/>
            <a:ext cx="6985000" cy="2921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8699500" y="3048000"/>
            <a:ext cx="6985000" cy="63500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11" name="Shape 9"/>
          <p:cNvSpPr/>
          <p:nvPr/>
        </p:nvSpPr>
        <p:spPr>
          <a:xfrm>
            <a:off x="9042400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0038" y="314325"/>
                </a:moveTo>
                <a:cubicBezTo>
                  <a:pt x="386834" y="314325"/>
                  <a:pt x="457200" y="243959"/>
                  <a:pt x="457200" y="157163"/>
                </a:cubicBezTo>
                <a:cubicBezTo>
                  <a:pt x="457200" y="70366"/>
                  <a:pt x="386834" y="0"/>
                  <a:pt x="300038" y="0"/>
                </a:cubicBezTo>
                <a:cubicBezTo>
                  <a:pt x="213241" y="0"/>
                  <a:pt x="142875" y="70366"/>
                  <a:pt x="142875" y="157163"/>
                </a:cubicBezTo>
                <a:cubicBezTo>
                  <a:pt x="142875" y="173861"/>
                  <a:pt x="145465" y="190024"/>
                  <a:pt x="150287" y="205115"/>
                </a:cubicBezTo>
                <a:lnTo>
                  <a:pt x="6251" y="349151"/>
                </a:lnTo>
                <a:cubicBezTo>
                  <a:pt x="2232" y="353169"/>
                  <a:pt x="0" y="358616"/>
                  <a:pt x="0" y="364331"/>
                </a:cubicBezTo>
                <a:lnTo>
                  <a:pt x="0" y="435769"/>
                </a:lnTo>
                <a:cubicBezTo>
                  <a:pt x="0" y="447645"/>
                  <a:pt x="9555" y="457200"/>
                  <a:pt x="21431" y="457200"/>
                </a:cubicBezTo>
                <a:lnTo>
                  <a:pt x="92869" y="457200"/>
                </a:lnTo>
                <a:cubicBezTo>
                  <a:pt x="104745" y="457200"/>
                  <a:pt x="114300" y="447645"/>
                  <a:pt x="114300" y="435769"/>
                </a:cubicBezTo>
                <a:lnTo>
                  <a:pt x="114300" y="400050"/>
                </a:lnTo>
                <a:lnTo>
                  <a:pt x="150019" y="400050"/>
                </a:lnTo>
                <a:cubicBezTo>
                  <a:pt x="161895" y="400050"/>
                  <a:pt x="171450" y="390495"/>
                  <a:pt x="171450" y="378619"/>
                </a:cubicBezTo>
                <a:lnTo>
                  <a:pt x="171450" y="342900"/>
                </a:lnTo>
                <a:lnTo>
                  <a:pt x="207169" y="342900"/>
                </a:lnTo>
                <a:cubicBezTo>
                  <a:pt x="212884" y="342900"/>
                  <a:pt x="218331" y="340668"/>
                  <a:pt x="222349" y="336649"/>
                </a:cubicBezTo>
                <a:lnTo>
                  <a:pt x="252085" y="306913"/>
                </a:lnTo>
                <a:cubicBezTo>
                  <a:pt x="267176" y="311735"/>
                  <a:pt x="283339" y="314325"/>
                  <a:pt x="300038" y="314325"/>
                </a:cubicBezTo>
                <a:close/>
                <a:moveTo>
                  <a:pt x="335756" y="85725"/>
                </a:moveTo>
                <a:cubicBezTo>
                  <a:pt x="355470" y="85725"/>
                  <a:pt x="371475" y="101730"/>
                  <a:pt x="371475" y="121444"/>
                </a:cubicBezTo>
                <a:cubicBezTo>
                  <a:pt x="371475" y="141157"/>
                  <a:pt x="355470" y="157163"/>
                  <a:pt x="335756" y="157163"/>
                </a:cubicBezTo>
                <a:cubicBezTo>
                  <a:pt x="316043" y="157163"/>
                  <a:pt x="300038" y="141157"/>
                  <a:pt x="300038" y="121444"/>
                </a:cubicBezTo>
                <a:cubicBezTo>
                  <a:pt x="300038" y="101730"/>
                  <a:pt x="316043" y="85725"/>
                  <a:pt x="335756" y="85725"/>
                </a:cubicBezTo>
                <a:close/>
              </a:path>
            </a:pathLst>
          </a:custGeom>
          <a:solidFill>
            <a:srgbClr val="4F81BD"/>
          </a:solidFill>
          <a:ln/>
        </p:spPr>
      </p:sp>
      <p:sp>
        <p:nvSpPr>
          <p:cNvPr id="12" name="Text 10"/>
          <p:cNvSpPr/>
          <p:nvPr/>
        </p:nvSpPr>
        <p:spPr>
          <a:xfrm>
            <a:off x="9677400" y="34036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API Authentication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042400" y="40640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HMAC-SHA256 request signing, 300-second replay window, API key + timestamp validation on all mutating endpoints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6154400" y="3048000"/>
            <a:ext cx="6985000" cy="2921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16154400" y="3048000"/>
            <a:ext cx="6985000" cy="63500"/>
          </a:xfrm>
          <a:prstGeom prst="rect">
            <a:avLst/>
          </a:prstGeom>
          <a:solidFill>
            <a:srgbClr val="9BBB59"/>
          </a:solidFill>
          <a:ln/>
        </p:spPr>
      </p:sp>
      <p:sp>
        <p:nvSpPr>
          <p:cNvPr id="16" name="Shape 14"/>
          <p:cNvSpPr/>
          <p:nvPr/>
        </p:nvSpPr>
        <p:spPr>
          <a:xfrm>
            <a:off x="16468725" y="342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00025" y="221456"/>
                </a:moveTo>
                <a:cubicBezTo>
                  <a:pt x="259166" y="221456"/>
                  <a:pt x="307181" y="173441"/>
                  <a:pt x="307181" y="114300"/>
                </a:cubicBezTo>
                <a:cubicBezTo>
                  <a:pt x="307181" y="55159"/>
                  <a:pt x="259166" y="7144"/>
                  <a:pt x="200025" y="7144"/>
                </a:cubicBezTo>
                <a:cubicBezTo>
                  <a:pt x="140884" y="7144"/>
                  <a:pt x="92869" y="55159"/>
                  <a:pt x="92869" y="114300"/>
                </a:cubicBezTo>
                <a:cubicBezTo>
                  <a:pt x="92869" y="173441"/>
                  <a:pt x="140884" y="221456"/>
                  <a:pt x="200025" y="221456"/>
                </a:cubicBezTo>
                <a:close/>
                <a:moveTo>
                  <a:pt x="173504" y="271463"/>
                </a:moveTo>
                <a:cubicBezTo>
                  <a:pt x="85546" y="271463"/>
                  <a:pt x="14288" y="342721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265390" y="457200"/>
                </a:lnTo>
                <a:cubicBezTo>
                  <a:pt x="233065" y="419160"/>
                  <a:pt x="214313" y="370136"/>
                  <a:pt x="214313" y="318254"/>
                </a:cubicBezTo>
                <a:lnTo>
                  <a:pt x="214313" y="290483"/>
                </a:lnTo>
                <a:cubicBezTo>
                  <a:pt x="214313" y="283964"/>
                  <a:pt x="215205" y="277535"/>
                  <a:pt x="216902" y="271462"/>
                </a:cubicBezTo>
                <a:lnTo>
                  <a:pt x="173504" y="271462"/>
                </a:lnTo>
                <a:close/>
                <a:moveTo>
                  <a:pt x="397639" y="436215"/>
                </a:moveTo>
                <a:lnTo>
                  <a:pt x="385763" y="441841"/>
                </a:lnTo>
                <a:lnTo>
                  <a:pt x="385763" y="273874"/>
                </a:lnTo>
                <a:lnTo>
                  <a:pt x="471488" y="302449"/>
                </a:lnTo>
                <a:lnTo>
                  <a:pt x="471488" y="319951"/>
                </a:lnTo>
                <a:cubicBezTo>
                  <a:pt x="471488" y="369778"/>
                  <a:pt x="442734" y="415052"/>
                  <a:pt x="397639" y="436305"/>
                </a:cubicBezTo>
                <a:close/>
                <a:moveTo>
                  <a:pt x="376744" y="231725"/>
                </a:moveTo>
                <a:lnTo>
                  <a:pt x="276731" y="265033"/>
                </a:lnTo>
                <a:cubicBezTo>
                  <a:pt x="265033" y="268962"/>
                  <a:pt x="257175" y="279856"/>
                  <a:pt x="257175" y="292179"/>
                </a:cubicBezTo>
                <a:lnTo>
                  <a:pt x="257175" y="319951"/>
                </a:lnTo>
                <a:cubicBezTo>
                  <a:pt x="257175" y="386388"/>
                  <a:pt x="295573" y="446842"/>
                  <a:pt x="355580" y="475059"/>
                </a:cubicBezTo>
                <a:lnTo>
                  <a:pt x="372100" y="482828"/>
                </a:lnTo>
                <a:cubicBezTo>
                  <a:pt x="376386" y="484793"/>
                  <a:pt x="381030" y="485864"/>
                  <a:pt x="385673" y="485864"/>
                </a:cubicBezTo>
                <a:cubicBezTo>
                  <a:pt x="390317" y="485864"/>
                  <a:pt x="395049" y="484793"/>
                  <a:pt x="399246" y="482828"/>
                </a:cubicBezTo>
                <a:lnTo>
                  <a:pt x="415766" y="475059"/>
                </a:lnTo>
                <a:cubicBezTo>
                  <a:pt x="475952" y="446752"/>
                  <a:pt x="514350" y="386298"/>
                  <a:pt x="514350" y="319861"/>
                </a:cubicBezTo>
                <a:lnTo>
                  <a:pt x="514350" y="292090"/>
                </a:lnTo>
                <a:cubicBezTo>
                  <a:pt x="514350" y="279767"/>
                  <a:pt x="506492" y="268873"/>
                  <a:pt x="494794" y="264944"/>
                </a:cubicBezTo>
                <a:lnTo>
                  <a:pt x="394781" y="231636"/>
                </a:lnTo>
                <a:cubicBezTo>
                  <a:pt x="388888" y="229672"/>
                  <a:pt x="382548" y="229672"/>
                  <a:pt x="376744" y="231636"/>
                </a:cubicBezTo>
                <a:close/>
              </a:path>
            </a:pathLst>
          </a:custGeom>
          <a:solidFill>
            <a:srgbClr val="9BBB59"/>
          </a:solidFill>
          <a:ln/>
        </p:spPr>
      </p:sp>
      <p:sp>
        <p:nvSpPr>
          <p:cNvPr id="17" name="Text 15"/>
          <p:cNvSpPr/>
          <p:nvPr/>
        </p:nvSpPr>
        <p:spPr>
          <a:xfrm>
            <a:off x="17132300" y="34036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Access Control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497300" y="40640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Dedicated wg-api service account with no shell, three sudo wrapper scripts with strict regex argument validation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49680" y="6477000"/>
            <a:ext cx="6985000" cy="2921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1249680" y="6477000"/>
            <a:ext cx="6985000" cy="63500"/>
          </a:xfrm>
          <a:prstGeom prst="rect">
            <a:avLst/>
          </a:prstGeom>
          <a:solidFill>
            <a:srgbClr val="4BACC6"/>
          </a:solidFill>
          <a:ln/>
        </p:spPr>
      </p:sp>
      <p:sp>
        <p:nvSpPr>
          <p:cNvPr id="21" name="Shape 19"/>
          <p:cNvSpPr/>
          <p:nvPr/>
        </p:nvSpPr>
        <p:spPr>
          <a:xfrm>
            <a:off x="1587500" y="685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4BACC6"/>
          </a:solidFill>
          <a:ln/>
        </p:spPr>
      </p:sp>
      <p:sp>
        <p:nvSpPr>
          <p:cNvPr id="22" name="Text 20"/>
          <p:cNvSpPr/>
          <p:nvPr/>
        </p:nvSpPr>
        <p:spPr>
          <a:xfrm>
            <a:off x="2222500" y="68326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Rate Limiting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87500" y="74930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Two-layer: Nginx (20 req/min per IP) + Redis-backed Flask-Limiter, /pq-keygen capped at 5 req/hour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699500" y="6477000"/>
            <a:ext cx="6985000" cy="2921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99500" y="6477000"/>
            <a:ext cx="6985000" cy="635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6" name="Shape 24"/>
          <p:cNvSpPr/>
          <p:nvPr/>
        </p:nvSpPr>
        <p:spPr>
          <a:xfrm>
            <a:off x="9013825" y="6858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F79646"/>
          </a:solidFill>
          <a:ln/>
        </p:spPr>
      </p:sp>
      <p:sp>
        <p:nvSpPr>
          <p:cNvPr id="27" name="Text 25"/>
          <p:cNvSpPr/>
          <p:nvPr/>
        </p:nvSpPr>
        <p:spPr>
          <a:xfrm>
            <a:off x="9677400" y="68326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Anomaly Detection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42400" y="74930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Background monitoring for handshake timeouts and unusual traffic volumes per peer, exposed via /anomalies endpoint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6154400" y="6477000"/>
            <a:ext cx="6985000" cy="2921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16154400" y="6477000"/>
            <a:ext cx="6985000" cy="63500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31" name="Shape 29"/>
          <p:cNvSpPr/>
          <p:nvPr/>
        </p:nvSpPr>
        <p:spPr>
          <a:xfrm>
            <a:off x="16497300" y="685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8064A2"/>
          </a:solidFill>
          <a:ln/>
        </p:spPr>
      </p:sp>
      <p:sp>
        <p:nvSpPr>
          <p:cNvPr id="32" name="Text 30"/>
          <p:cNvSpPr/>
          <p:nvPr/>
        </p:nvSpPr>
        <p:spPr>
          <a:xfrm>
            <a:off x="17132300" y="68326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Peer Lifecycle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6497300" y="74930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Automated peer classification (active/expiring/expired) with daily systemd timer for revocation of stale peers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249680" y="10033000"/>
            <a:ext cx="22098000" cy="127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Shape 33"/>
          <p:cNvSpPr/>
          <p:nvPr/>
        </p:nvSpPr>
        <p:spPr>
          <a:xfrm>
            <a:off x="1651000" y="1035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36" name="Text 34"/>
          <p:cNvSpPr/>
          <p:nvPr/>
        </p:nvSpPr>
        <p:spPr>
          <a:xfrm>
            <a:off x="2349500" y="10223500"/>
            <a:ext cx="203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Security Principle: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A compromise at any single layer does not grant an attacker control over the system. Each control operates independently.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762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016000"/>
            <a:ext cx="152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400" b="1" kern="0" spc="-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Controls, Rate Limiting &amp; Monitoring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44600" y="1878822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" name="Text 3"/>
          <p:cNvSpPr/>
          <p:nvPr/>
        </p:nvSpPr>
        <p:spPr>
          <a:xfrm>
            <a:off x="1244600" y="234561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Least Privilege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44600" y="2917110"/>
            <a:ext cx="6731000" cy="487239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3107609"/>
            <a:ext cx="6096000" cy="4468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Dedicated wg-api service account: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login shell (/sbin/nologin)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home directory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Write access: /opt/wg-api/logs, /opt/</a:t>
            </a:r>
            <a:r>
              <a:rPr lang="en-US" sz="24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wg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/config, /etc/wireguard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Read access: /etc/wireguard/server/public.key only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244600" y="8305543"/>
            <a:ext cx="6731000" cy="32271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1587500" y="8432543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Sudoers Wrapper Scripts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87500" y="8877043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wg-set-peer: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Base64 PK + IP 10.77.0.x/32 validation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wg-remove-peer: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Base64 PK format validation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wg-show: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Only wg0, dump, conf subcommands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wildcards — strict regex validation before kernel invocation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483600" y="234561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483600" y="2917110"/>
            <a:ext cx="6731000" cy="487239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8826500" y="3107610"/>
            <a:ext cx="609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Two-Layer Defence: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Nginx layer: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20 requests/minute per source IP at HTTP level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Flask-Limiter: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Redis-backed endpoint limits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/pq-keygen: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5 requests/hour per IP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Fail-closed: app refuses to start if Redis unreachable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483600" y="8305543"/>
            <a:ext cx="6731000" cy="32271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8826500" y="8432543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Firewall Configuration (UFW)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826500" y="8877043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Default-deny incoming: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22/TCP — SSH | 443/TCP — HTTPS API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51820/UDP — WireGuard tunnel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 5000 (Flask dev) NOT opened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5722600" y="234561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&amp; Lifecycle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5722600" y="2917110"/>
            <a:ext cx="7416800" cy="487239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16065500" y="3107610"/>
            <a:ext cx="673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Anomaly Detection (monitor.py):</a:t>
            </a:r>
            <a:endParaRPr lang="en-US" sz="32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Handshake timeout threshold monitoring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Unusual traffic volume detection per peer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Structured JSON logging for SIEM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Exposed via /api/v1/anomalies endpoint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5722600" y="8305543"/>
            <a:ext cx="7416800" cy="32271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Text 19"/>
          <p:cNvSpPr/>
          <p:nvPr/>
        </p:nvSpPr>
        <p:spPr>
          <a:xfrm>
            <a:off x="16065500" y="8432543"/>
            <a:ext cx="673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Peer Lifecycle Management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065500" y="8877043"/>
            <a:ext cx="673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Active: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Handshake within 90 days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796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Expiring: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Approaching threshold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F81B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Expired: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handshake &gt; 90 days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Unknown: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Timestamp unavailable</a:t>
            </a:r>
            <a:endParaRPr lang="en-US" sz="32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Daily systemd timer auto-revokes expired peers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2860000" y="12954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762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016000"/>
            <a:ext cx="152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400" b="1" kern="0" spc="-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Deployment &amp; Configuration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44600" y="1878822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" name="Text 3"/>
          <p:cNvSpPr/>
          <p:nvPr/>
        </p:nvSpPr>
        <p:spPr>
          <a:xfrm>
            <a:off x="1244600" y="2252305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600511"/>
              </p:ext>
            </p:extLst>
          </p:nvPr>
        </p:nvGraphicFramePr>
        <p:xfrm>
          <a:off x="1244600" y="2823805"/>
          <a:ext cx="6858000" cy="47046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075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Parameter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Value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07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Cloud Provider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Microsoft Azure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07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Region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East US (Washington)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07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VM Size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Standard B1s (1 vCPU, 1 GB)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07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Operating System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Ubuntu Server 24.04 LTS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6246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Public IP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Static, assigned at provisioning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307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Storage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 GB Standard SSD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44600" y="8478667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NSG Inbound Rules</a:t>
            </a:r>
            <a:endParaRPr lang="en-US" sz="28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332074"/>
              </p:ext>
            </p:extLst>
          </p:nvPr>
        </p:nvGraphicFramePr>
        <p:xfrm>
          <a:off x="1244600" y="9050167"/>
          <a:ext cx="6858000" cy="3649832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7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4514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Priority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Name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Port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Proto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402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Allow-SSH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22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TCP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Allow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402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110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Allow-HTTPS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443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TCP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Allow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514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120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Allow-WireGuard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51820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UDP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Allow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737600" y="2252305"/>
            <a:ext cx="685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Installation (12 Steps)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8737600" y="2823805"/>
            <a:ext cx="6731000" cy="987619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7"/>
          <p:cNvSpPr/>
          <p:nvPr/>
        </p:nvSpPr>
        <p:spPr>
          <a:xfrm>
            <a:off x="9080500" y="3014305"/>
            <a:ext cx="6096000" cy="1003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 package update &amp; upgrade</a:t>
            </a:r>
            <a:endParaRPr lang="en-US" sz="3600" dirty="0"/>
          </a:p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Dependency installation (WireGuard, Nginx, Python, Redis)</a:t>
            </a:r>
            <a:endParaRPr lang="en-US" sz="3600" dirty="0"/>
          </a:p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Redis hardening (localhost-only, dangerous commands disabled)</a:t>
            </a:r>
            <a:endParaRPr lang="en-US" sz="3600" dirty="0"/>
          </a:p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Dedicated wg-api service user creation</a:t>
            </a:r>
            <a:endParaRPr lang="en-US" sz="3600" dirty="0"/>
          </a:p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API code deployment with CRLF correction</a:t>
            </a:r>
            <a:endParaRPr lang="en-US" sz="3600" dirty="0"/>
          </a:p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WireGuard server keypair generation</a:t>
            </a:r>
            <a:endParaRPr lang="en-US" sz="3600" dirty="0"/>
          </a:p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Interface configuration with NAT rules</a:t>
            </a:r>
            <a:endParaRPr lang="en-US" sz="3600" dirty="0"/>
          </a:p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Python virtual environment setup</a:t>
            </a:r>
            <a:endParaRPr lang="en-US" sz="3600" dirty="0"/>
          </a:p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API key generation (secrets.token_urlsafe(32))</a:t>
            </a:r>
            <a:endParaRPr lang="en-US" sz="3600" dirty="0"/>
          </a:p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Self-signed TLS cert (4096-bit , 10-year)</a:t>
            </a:r>
            <a:endParaRPr lang="en-US" sz="3600" dirty="0"/>
          </a:p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Sudoers rules and wrapper script </a:t>
            </a:r>
            <a:endParaRPr lang="en-US" sz="3600" dirty="0"/>
          </a:p>
          <a:p>
            <a:pPr>
              <a:lnSpc>
                <a:spcPct val="155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Nginx, systemd, UFW, fail2ban configuration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15976600" y="2252305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Systemd Configuration</a:t>
            </a:r>
            <a:endParaRPr lang="en-US" sz="2800" dirty="0"/>
          </a:p>
        </p:txBody>
      </p:sp>
      <p:sp>
        <p:nvSpPr>
          <p:cNvPr id="6" name="Shape 9"/>
          <p:cNvSpPr/>
          <p:nvPr/>
        </p:nvSpPr>
        <p:spPr>
          <a:xfrm>
            <a:off x="15976600" y="2823805"/>
            <a:ext cx="7162800" cy="470469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0"/>
          <p:cNvSpPr/>
          <p:nvPr/>
        </p:nvSpPr>
        <p:spPr>
          <a:xfrm>
            <a:off x="16319500" y="3014305"/>
            <a:ext cx="6477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Type=simple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ExecStartPre directives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Socket directory created with correct ownership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tmpfiles.d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rule for boot-time socket dir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wg-api-cleanup.timer runs daily for peer revocation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fail2ban for SSH brute-force protection</a:t>
            </a:r>
            <a:endParaRPr lang="en-US" sz="3600" dirty="0"/>
          </a:p>
        </p:txBody>
      </p:sp>
      <p:sp>
        <p:nvSpPr>
          <p:cNvPr id="15" name="Shape 11"/>
          <p:cNvSpPr/>
          <p:nvPr/>
        </p:nvSpPr>
        <p:spPr>
          <a:xfrm>
            <a:off x="15976600" y="8473484"/>
            <a:ext cx="7162800" cy="422651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2"/>
          <p:cNvSpPr/>
          <p:nvPr/>
        </p:nvSpPr>
        <p:spPr>
          <a:xfrm>
            <a:off x="16319500" y="8638585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 Client Setup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16319500" y="9108485"/>
            <a:ext cx="647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Install WireGuard for Windows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 Python venv, install requirements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securevpn_cli.py keygen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&lt;name&gt;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securevpn_cli.py up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--profile &lt;name&gt;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securevpn_cli.py verify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(DNS leak test)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22860000" y="13047305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762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016000"/>
            <a:ext cx="152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400" b="1" kern="0" spc="-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Verification &amp; Performance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44600" y="1897483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" name="Text 3"/>
          <p:cNvSpPr/>
          <p:nvPr/>
        </p:nvSpPr>
        <p:spPr>
          <a:xfrm>
            <a:off x="1244600" y="2233644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Control Verification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635261"/>
              </p:ext>
            </p:extLst>
          </p:nvPr>
        </p:nvGraphicFramePr>
        <p:xfrm>
          <a:off x="1244600" y="2805144"/>
          <a:ext cx="10922000" cy="4894580"/>
        </p:xfrm>
        <a:graphic>
          <a:graphicData uri="http://schemas.openxmlformats.org/drawingml/2006/table">
            <a:tbl>
              <a:tblPr/>
              <a:tblGrid>
                <a:gridCol w="38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Control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Test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Result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Rate Limiting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25 rapid requests to /health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9BBB5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429 on req 21+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API Authentication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Request with invalid API key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9BBB5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403 Forbidden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Replay Prevention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Re-send with old timestamp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9BBB5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401 Unauthorized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Sudoers Restriction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Direct wg invocation as wg-api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9BBB5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Permission Denied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HMAC Signing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Tampered request body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9BBB5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401 Unauthorized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TLS Enforcement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Plain HTTP on port 80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9BBB5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Conn. Refused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Port Isolation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Port scan on 5000, 8000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9BBB5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 Filtered</a:t>
                      </a:r>
                      <a:endParaRPr lang="en-US" sz="2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700000" y="2233644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Connection Test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2700000" y="2805144"/>
            <a:ext cx="10439400" cy="48945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13042900" y="3059144"/>
            <a:ext cx="9753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 generates Curve25519 + Kyber-512 keypairs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POST /add-peer with public keys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Server encapsulates KEM, derives PSK via HKDF-SHA3-256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wg set peer configured with client PK + PSK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 decapsulates, derives matching PSK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UDP handshake confirmed (wg show statistics)</a:t>
            </a:r>
            <a:endParaRPr lang="en-US" sz="3200" dirty="0"/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connectivity verified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USA exit node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244600" y="819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Cryptographic Performance Benchmarks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244600" y="8699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1,000 iterations on Azure Standard B1s server</a:t>
            </a:r>
            <a:endParaRPr lang="en-US" sz="2000" dirty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4068882974"/>
              </p:ext>
            </p:extLst>
          </p:nvPr>
        </p:nvGraphicFramePr>
        <p:xfrm>
          <a:off x="1244600" y="9144000"/>
          <a:ext cx="1143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13335000" y="8191500"/>
            <a:ext cx="9804400" cy="4762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10"/>
          <p:cNvSpPr/>
          <p:nvPr/>
        </p:nvSpPr>
        <p:spPr>
          <a:xfrm>
            <a:off x="13970000" y="8572500"/>
            <a:ext cx="85344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~19 ms</a:t>
            </a:r>
            <a:endParaRPr lang="en-US" sz="5400" dirty="0"/>
          </a:p>
        </p:txBody>
      </p:sp>
      <p:sp>
        <p:nvSpPr>
          <p:cNvPr id="15" name="Text 11"/>
          <p:cNvSpPr/>
          <p:nvPr/>
        </p:nvSpPr>
        <p:spPr>
          <a:xfrm>
            <a:off x="13970000" y="9715500"/>
            <a:ext cx="85344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Post-Quantum Overhead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13970000" y="10350500"/>
            <a:ext cx="8534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Occurs exclusively during out-of-band registration via REST API. In-band WireGuard traffic routing experiences zero overhead via kernel-space ChaCha20-Poly1305.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22860000" y="12954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762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016000"/>
            <a:ext cx="152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400" b="1" kern="0" spc="-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Summary &amp; Key Achievements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44600" y="1897483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" name="Shape 3"/>
          <p:cNvSpPr/>
          <p:nvPr/>
        </p:nvSpPr>
        <p:spPr>
          <a:xfrm>
            <a:off x="1244600" y="2465092"/>
            <a:ext cx="6858000" cy="255451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1612900" y="2782593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316548"/>
                </a:moveTo>
                <a:cubicBezTo>
                  <a:pt x="168434" y="320596"/>
                  <a:pt x="159226" y="324247"/>
                  <a:pt x="150098" y="327263"/>
                </a:cubicBezTo>
                <a:cubicBezTo>
                  <a:pt x="163354" y="354092"/>
                  <a:pt x="174704" y="355600"/>
                  <a:pt x="177800" y="355600"/>
                </a:cubicBezTo>
                <a:cubicBezTo>
                  <a:pt x="180896" y="355600"/>
                  <a:pt x="192167" y="354092"/>
                  <a:pt x="205502" y="327263"/>
                </a:cubicBezTo>
                <a:cubicBezTo>
                  <a:pt x="196453" y="324168"/>
                  <a:pt x="187166" y="320596"/>
                  <a:pt x="177800" y="316548"/>
                </a:cubicBezTo>
                <a:close/>
                <a:moveTo>
                  <a:pt x="328613" y="203200"/>
                </a:moveTo>
                <a:cubicBezTo>
                  <a:pt x="354806" y="239078"/>
                  <a:pt x="363776" y="275352"/>
                  <a:pt x="347345" y="304800"/>
                </a:cubicBezTo>
                <a:cubicBezTo>
                  <a:pt x="331311" y="333613"/>
                  <a:pt x="297736" y="343932"/>
                  <a:pt x="255905" y="339090"/>
                </a:cubicBezTo>
                <a:cubicBezTo>
                  <a:pt x="238443" y="380444"/>
                  <a:pt x="211693" y="406400"/>
                  <a:pt x="177800" y="406400"/>
                </a:cubicBezTo>
                <a:cubicBezTo>
                  <a:pt x="143907" y="406400"/>
                  <a:pt x="117158" y="380444"/>
                  <a:pt x="99695" y="339090"/>
                </a:cubicBezTo>
                <a:cubicBezTo>
                  <a:pt x="57864" y="343932"/>
                  <a:pt x="24289" y="333613"/>
                  <a:pt x="8255" y="304800"/>
                </a:cubicBezTo>
                <a:cubicBezTo>
                  <a:pt x="-8176" y="275352"/>
                  <a:pt x="794" y="239078"/>
                  <a:pt x="26988" y="203200"/>
                </a:cubicBezTo>
                <a:cubicBezTo>
                  <a:pt x="794" y="167323"/>
                  <a:pt x="-8176" y="131048"/>
                  <a:pt x="8255" y="101600"/>
                </a:cubicBezTo>
                <a:cubicBezTo>
                  <a:pt x="24289" y="72787"/>
                  <a:pt x="57864" y="62468"/>
                  <a:pt x="99695" y="67310"/>
                </a:cubicBezTo>
                <a:cubicBezTo>
                  <a:pt x="117157" y="25956"/>
                  <a:pt x="143828" y="0"/>
                  <a:pt x="177800" y="0"/>
                </a:cubicBezTo>
                <a:cubicBezTo>
                  <a:pt x="211773" y="0"/>
                  <a:pt x="238442" y="25956"/>
                  <a:pt x="255905" y="67310"/>
                </a:cubicBezTo>
                <a:cubicBezTo>
                  <a:pt x="297736" y="62468"/>
                  <a:pt x="331311" y="72708"/>
                  <a:pt x="347345" y="101600"/>
                </a:cubicBezTo>
                <a:cubicBezTo>
                  <a:pt x="363776" y="131048"/>
                  <a:pt x="354806" y="167323"/>
                  <a:pt x="328612" y="203200"/>
                </a:cubicBezTo>
                <a:close/>
                <a:moveTo>
                  <a:pt x="276384" y="256699"/>
                </a:moveTo>
                <a:cubicBezTo>
                  <a:pt x="275034" y="267970"/>
                  <a:pt x="273288" y="278924"/>
                  <a:pt x="271066" y="289401"/>
                </a:cubicBezTo>
                <a:cubicBezTo>
                  <a:pt x="296307" y="290512"/>
                  <a:pt x="301704" y="282496"/>
                  <a:pt x="302974" y="280114"/>
                </a:cubicBezTo>
                <a:cubicBezTo>
                  <a:pt x="304800" y="276781"/>
                  <a:pt x="308531" y="265906"/>
                  <a:pt x="293529" y="241935"/>
                </a:cubicBezTo>
                <a:cubicBezTo>
                  <a:pt x="288131" y="246936"/>
                  <a:pt x="282416" y="251857"/>
                  <a:pt x="276384" y="256699"/>
                </a:cubicBezTo>
                <a:close/>
                <a:moveTo>
                  <a:pt x="271066" y="117078"/>
                </a:moveTo>
                <a:cubicBezTo>
                  <a:pt x="273288" y="127476"/>
                  <a:pt x="275034" y="138430"/>
                  <a:pt x="276384" y="149781"/>
                </a:cubicBezTo>
                <a:cubicBezTo>
                  <a:pt x="282416" y="154622"/>
                  <a:pt x="288131" y="159544"/>
                  <a:pt x="293529" y="164544"/>
                </a:cubicBezTo>
                <a:cubicBezTo>
                  <a:pt x="308531" y="140573"/>
                  <a:pt x="304800" y="129619"/>
                  <a:pt x="302974" y="126365"/>
                </a:cubicBezTo>
                <a:cubicBezTo>
                  <a:pt x="301704" y="124063"/>
                  <a:pt x="296307" y="116046"/>
                  <a:pt x="271066" y="117078"/>
                </a:cubicBezTo>
                <a:close/>
                <a:moveTo>
                  <a:pt x="205502" y="79137"/>
                </a:moveTo>
                <a:cubicBezTo>
                  <a:pt x="192167" y="52308"/>
                  <a:pt x="180896" y="50800"/>
                  <a:pt x="177800" y="50800"/>
                </a:cubicBezTo>
                <a:cubicBezTo>
                  <a:pt x="174704" y="50800"/>
                  <a:pt x="163433" y="52308"/>
                  <a:pt x="150098" y="79137"/>
                </a:cubicBezTo>
                <a:cubicBezTo>
                  <a:pt x="159147" y="82233"/>
                  <a:pt x="168434" y="85804"/>
                  <a:pt x="177800" y="89853"/>
                </a:cubicBezTo>
                <a:cubicBezTo>
                  <a:pt x="187166" y="85804"/>
                  <a:pt x="196374" y="82153"/>
                  <a:pt x="205502" y="79137"/>
                </a:cubicBezTo>
                <a:close/>
                <a:moveTo>
                  <a:pt x="79296" y="149701"/>
                </a:moveTo>
                <a:cubicBezTo>
                  <a:pt x="80645" y="138351"/>
                  <a:pt x="82391" y="127476"/>
                  <a:pt x="84614" y="116999"/>
                </a:cubicBezTo>
                <a:cubicBezTo>
                  <a:pt x="59372" y="115888"/>
                  <a:pt x="53975" y="123904"/>
                  <a:pt x="52705" y="126286"/>
                </a:cubicBezTo>
                <a:cubicBezTo>
                  <a:pt x="50879" y="129619"/>
                  <a:pt x="47149" y="140494"/>
                  <a:pt x="62151" y="164465"/>
                </a:cubicBezTo>
                <a:cubicBezTo>
                  <a:pt x="67548" y="159464"/>
                  <a:pt x="73263" y="154543"/>
                  <a:pt x="79296" y="149701"/>
                </a:cubicBezTo>
                <a:close/>
                <a:moveTo>
                  <a:pt x="62071" y="241935"/>
                </a:moveTo>
                <a:cubicBezTo>
                  <a:pt x="47069" y="265906"/>
                  <a:pt x="50800" y="276860"/>
                  <a:pt x="52626" y="280114"/>
                </a:cubicBezTo>
                <a:cubicBezTo>
                  <a:pt x="53896" y="282416"/>
                  <a:pt x="59293" y="290433"/>
                  <a:pt x="84534" y="289401"/>
                </a:cubicBezTo>
                <a:cubicBezTo>
                  <a:pt x="82312" y="279003"/>
                  <a:pt x="80566" y="268049"/>
                  <a:pt x="79216" y="256699"/>
                </a:cubicBezTo>
                <a:cubicBezTo>
                  <a:pt x="73184" y="251857"/>
                  <a:pt x="67469" y="246936"/>
                  <a:pt x="62071" y="241935"/>
                </a:cubicBezTo>
                <a:close/>
                <a:moveTo>
                  <a:pt x="241300" y="203200"/>
                </a:moveTo>
                <a:cubicBezTo>
                  <a:pt x="241300" y="168153"/>
                  <a:pt x="212847" y="139700"/>
                  <a:pt x="177800" y="139700"/>
                </a:cubicBezTo>
                <a:cubicBezTo>
                  <a:pt x="142753" y="139700"/>
                  <a:pt x="114300" y="168153"/>
                  <a:pt x="114300" y="203200"/>
                </a:cubicBezTo>
                <a:cubicBezTo>
                  <a:pt x="114300" y="238247"/>
                  <a:pt x="142753" y="266700"/>
                  <a:pt x="177800" y="266700"/>
                </a:cubicBezTo>
                <a:cubicBezTo>
                  <a:pt x="212847" y="266700"/>
                  <a:pt x="241300" y="238247"/>
                  <a:pt x="241300" y="203200"/>
                </a:cubicBezTo>
                <a:close/>
                <a:moveTo>
                  <a:pt x="177800" y="177800"/>
                </a:moveTo>
                <a:cubicBezTo>
                  <a:pt x="191819" y="177800"/>
                  <a:pt x="203200" y="189181"/>
                  <a:pt x="203200" y="203200"/>
                </a:cubicBezTo>
                <a:cubicBezTo>
                  <a:pt x="203200" y="217219"/>
                  <a:pt x="191819" y="228600"/>
                  <a:pt x="177800" y="228600"/>
                </a:cubicBezTo>
                <a:cubicBezTo>
                  <a:pt x="163781" y="228600"/>
                  <a:pt x="152400" y="217219"/>
                  <a:pt x="152400" y="203200"/>
                </a:cubicBezTo>
                <a:cubicBezTo>
                  <a:pt x="152400" y="189181"/>
                  <a:pt x="163781" y="177800"/>
                  <a:pt x="177800" y="1778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2222500" y="2719093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PQ Handshake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22500" y="3163593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X25519 + Kyber-512 with IND-CCA2 security via Fujisaki-Okamoto transform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483600" y="2465092"/>
            <a:ext cx="6858000" cy="2554511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8877300" y="2782593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9461500" y="2719093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Authenticated Management API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61500" y="3163593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HMAC-SHA256 request signing with replay prevention and two-layer rate limiting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5722600" y="2465093"/>
            <a:ext cx="7416800" cy="255451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65500" y="278259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5" name="Text 13"/>
          <p:cNvSpPr/>
          <p:nvPr/>
        </p:nvSpPr>
        <p:spPr>
          <a:xfrm>
            <a:off x="16700500" y="2719093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Defence-in-Depth Security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700500" y="3163593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Dedicated service user, zero-wildcard sudoers, STRIDE threat modeling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1244600" y="5565706"/>
            <a:ext cx="6858000" cy="2435299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Shape 16"/>
          <p:cNvSpPr/>
          <p:nvPr/>
        </p:nvSpPr>
        <p:spPr>
          <a:xfrm>
            <a:off x="1587500" y="588320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79" y="152400"/>
                </a:moveTo>
                <a:lnTo>
                  <a:pt x="387350" y="152400"/>
                </a:lnTo>
                <a:cubicBezTo>
                  <a:pt x="397907" y="152400"/>
                  <a:pt x="406400" y="143907"/>
                  <a:pt x="406400" y="133350"/>
                </a:cubicBezTo>
                <a:lnTo>
                  <a:pt x="406400" y="19050"/>
                </a:lnTo>
                <a:cubicBezTo>
                  <a:pt x="406400" y="11351"/>
                  <a:pt x="401796" y="4366"/>
                  <a:pt x="394652" y="1429"/>
                </a:cubicBezTo>
                <a:cubicBezTo>
                  <a:pt x="387509" y="-1508"/>
                  <a:pt x="379333" y="159"/>
                  <a:pt x="373856" y="5556"/>
                </a:cubicBezTo>
                <a:lnTo>
                  <a:pt x="332819" y="46673"/>
                </a:lnTo>
                <a:cubicBezTo>
                  <a:pt x="297656" y="17542"/>
                  <a:pt x="252413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ubicBezTo>
                  <a:pt x="62865" y="107553"/>
                  <a:pt x="126444" y="50800"/>
                  <a:pt x="203200" y="50800"/>
                </a:cubicBezTo>
                <a:cubicBezTo>
                  <a:pt x="238442" y="50800"/>
                  <a:pt x="270828" y="62706"/>
                  <a:pt x="296624" y="82788"/>
                </a:cubicBezTo>
                <a:lnTo>
                  <a:pt x="259556" y="119856"/>
                </a:lnTo>
                <a:cubicBezTo>
                  <a:pt x="254079" y="125333"/>
                  <a:pt x="252492" y="133509"/>
                  <a:pt x="255429" y="140652"/>
                </a:cubicBezTo>
                <a:cubicBezTo>
                  <a:pt x="258366" y="147796"/>
                  <a:pt x="265351" y="152400"/>
                  <a:pt x="273050" y="152400"/>
                </a:cubicBezTo>
                <a:lnTo>
                  <a:pt x="381079" y="152400"/>
                </a:lnTo>
                <a:close/>
                <a:moveTo>
                  <a:pt x="404416" y="232172"/>
                </a:moveTo>
                <a:cubicBezTo>
                  <a:pt x="406400" y="218281"/>
                  <a:pt x="396716" y="205423"/>
                  <a:pt x="382905" y="203438"/>
                </a:cubicBezTo>
                <a:cubicBezTo>
                  <a:pt x="369094" y="201454"/>
                  <a:pt x="356156" y="211138"/>
                  <a:pt x="354171" y="224949"/>
                </a:cubicBezTo>
                <a:cubicBezTo>
                  <a:pt x="343614" y="298768"/>
                  <a:pt x="280035" y="355521"/>
                  <a:pt x="203279" y="355521"/>
                </a:cubicBezTo>
                <a:cubicBezTo>
                  <a:pt x="168037" y="355521"/>
                  <a:pt x="135652" y="343614"/>
                  <a:pt x="109855" y="323533"/>
                </a:cubicBezTo>
                <a:lnTo>
                  <a:pt x="146844" y="286544"/>
                </a:lnTo>
                <a:cubicBezTo>
                  <a:pt x="152321" y="281067"/>
                  <a:pt x="153908" y="272891"/>
                  <a:pt x="150971" y="265748"/>
                </a:cubicBezTo>
                <a:cubicBezTo>
                  <a:pt x="148034" y="258604"/>
                  <a:pt x="141049" y="254000"/>
                  <a:pt x="133350" y="254000"/>
                </a:cubicBezTo>
                <a:lnTo>
                  <a:pt x="19050" y="254000"/>
                </a:lnTo>
                <a:cubicBezTo>
                  <a:pt x="8493" y="254000"/>
                  <a:pt x="0" y="262493"/>
                  <a:pt x="0" y="273050"/>
                </a:cubicBezTo>
                <a:lnTo>
                  <a:pt x="0" y="387350"/>
                </a:lnTo>
                <a:cubicBezTo>
                  <a:pt x="0" y="395049"/>
                  <a:pt x="4604" y="402034"/>
                  <a:pt x="11748" y="404971"/>
                </a:cubicBezTo>
                <a:cubicBezTo>
                  <a:pt x="18891" y="407908"/>
                  <a:pt x="27067" y="406241"/>
                  <a:pt x="32544" y="400844"/>
                </a:cubicBezTo>
                <a:lnTo>
                  <a:pt x="73660" y="359728"/>
                </a:lnTo>
                <a:cubicBezTo>
                  <a:pt x="108744" y="388858"/>
                  <a:pt x="153988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9" name="Text 17"/>
          <p:cNvSpPr/>
          <p:nvPr/>
        </p:nvSpPr>
        <p:spPr>
          <a:xfrm>
            <a:off x="2222500" y="5819707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Peer Lifecycle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222500" y="6264207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Anomaly detection with daily systemd timer for automatic stale peer revocation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8483600" y="5565707"/>
            <a:ext cx="6858000" cy="243529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2" name="Shape 20"/>
          <p:cNvSpPr/>
          <p:nvPr/>
        </p:nvSpPr>
        <p:spPr>
          <a:xfrm>
            <a:off x="8801100" y="5883207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0" y="266700"/>
                </a:moveTo>
                <a:cubicBezTo>
                  <a:pt x="0" y="329803"/>
                  <a:pt x="51197" y="381000"/>
                  <a:pt x="114300" y="381000"/>
                </a:cubicBezTo>
                <a:lnTo>
                  <a:pt x="355600" y="381000"/>
                </a:lnTo>
                <a:cubicBezTo>
                  <a:pt x="411718" y="381000"/>
                  <a:pt x="457200" y="335518"/>
                  <a:pt x="457200" y="279400"/>
                </a:cubicBezTo>
                <a:cubicBezTo>
                  <a:pt x="457200" y="238442"/>
                  <a:pt x="432991" y="203121"/>
                  <a:pt x="398066" y="187087"/>
                </a:cubicBezTo>
                <a:cubicBezTo>
                  <a:pt x="403384" y="176689"/>
                  <a:pt x="406400" y="164862"/>
                  <a:pt x="406400" y="152400"/>
                </a:cubicBezTo>
                <a:cubicBezTo>
                  <a:pt x="406400" y="110331"/>
                  <a:pt x="372269" y="76200"/>
                  <a:pt x="330200" y="76200"/>
                </a:cubicBezTo>
                <a:cubicBezTo>
                  <a:pt x="316151" y="76200"/>
                  <a:pt x="303054" y="80010"/>
                  <a:pt x="291783" y="86598"/>
                </a:cubicBezTo>
                <a:cubicBezTo>
                  <a:pt x="272653" y="50244"/>
                  <a:pt x="234474" y="25400"/>
                  <a:pt x="190500" y="25400"/>
                </a:cubicBezTo>
                <a:cubicBezTo>
                  <a:pt x="127397" y="25400"/>
                  <a:pt x="76200" y="76597"/>
                  <a:pt x="76200" y="139700"/>
                </a:cubicBezTo>
                <a:cubicBezTo>
                  <a:pt x="76200" y="146050"/>
                  <a:pt x="76756" y="152321"/>
                  <a:pt x="77708" y="158353"/>
                </a:cubicBezTo>
                <a:cubicBezTo>
                  <a:pt x="32544" y="173593"/>
                  <a:pt x="0" y="216376"/>
                  <a:pt x="0" y="2667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23" name="Text 21"/>
          <p:cNvSpPr/>
          <p:nvPr/>
        </p:nvSpPr>
        <p:spPr>
          <a:xfrm>
            <a:off x="9461500" y="5819707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Single-Command Deployment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461500" y="6264207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automated installer deploying full stack on Azure in 12 steps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15722600" y="5565706"/>
            <a:ext cx="7416800" cy="2435297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6" name="Shape 24"/>
          <p:cNvSpPr/>
          <p:nvPr/>
        </p:nvSpPr>
        <p:spPr>
          <a:xfrm>
            <a:off x="16065500" y="588320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27" name="Text 25"/>
          <p:cNvSpPr/>
          <p:nvPr/>
        </p:nvSpPr>
        <p:spPr>
          <a:xfrm>
            <a:off x="16700500" y="5819707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 Python Client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700500" y="6264207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 with GUI system-tray integration, full crypto engine, and DNS leak testing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1244600" y="8841016"/>
            <a:ext cx="21894800" cy="292100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30" name="Text 28"/>
          <p:cNvSpPr/>
          <p:nvPr/>
        </p:nvSpPr>
        <p:spPr>
          <a:xfrm>
            <a:off x="1651000" y="9095016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Verification Result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651000" y="9666516"/>
            <a:ext cx="2108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 was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successfully deployed on Microsoft Azure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tested end-to-end. A Windows client established a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post-quantum-protected WireGuard tunnel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the Azure VPN server with a KEM-derived PSK, with internet connectivity </a:t>
            </a: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confirmed routing through the USA (Washington) exit node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All security controls validated successfully against the STRIDE threat model.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2860000" y="12954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762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016000"/>
            <a:ext cx="152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400" b="1" kern="0" spc="-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Future Directions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244600" y="1897483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" name="Text 3"/>
          <p:cNvSpPr/>
          <p:nvPr/>
        </p:nvSpPr>
        <p:spPr>
          <a:xfrm>
            <a:off x="1244600" y="2308288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F81B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Limitations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44600" y="2943288"/>
            <a:ext cx="10414000" cy="231295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1524000" y="32988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4F81BD"/>
          </a:solidFill>
          <a:ln/>
        </p:spPr>
      </p:sp>
      <p:sp>
        <p:nvSpPr>
          <p:cNvPr id="8" name="Text 6"/>
          <p:cNvSpPr/>
          <p:nvPr/>
        </p:nvSpPr>
        <p:spPr>
          <a:xfrm>
            <a:off x="2032000" y="3133788"/>
            <a:ext cx="927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Kyber-512 implementation</a:t>
            </a: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an academic exercise. Production deployment should use an audited library such as </a:t>
            </a: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liboqs</a:t>
            </a: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the NIST FIPS 203 reference implementation.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244600" y="5490027"/>
            <a:ext cx="10414000" cy="231295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584562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4F81BD"/>
          </a:solidFill>
          <a:ln/>
        </p:spPr>
      </p:sp>
      <p:sp>
        <p:nvSpPr>
          <p:cNvPr id="11" name="Text 9"/>
          <p:cNvSpPr/>
          <p:nvPr/>
        </p:nvSpPr>
        <p:spPr>
          <a:xfrm>
            <a:off x="2032000" y="5680528"/>
            <a:ext cx="927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HMAC signing key is the same as the API bearer key.</a:t>
            </a: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Production use should domain-separate them with HKDF for independent security boundaries.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1270001" y="8036764"/>
            <a:ext cx="10414000" cy="231295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549401" y="83923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4F81BD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1" y="8227265"/>
            <a:ext cx="927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Self-signed TLS certificate</a:t>
            </a: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requires manual fingerprint pinning. A Let's Encrypt certificate with a proper domain name would be more user-friendly.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1244600" y="10582212"/>
            <a:ext cx="10414000" cy="231295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Shape 14"/>
          <p:cNvSpPr/>
          <p:nvPr/>
        </p:nvSpPr>
        <p:spPr>
          <a:xfrm>
            <a:off x="1524000" y="109378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4F81BD"/>
          </a:solidFill>
          <a:ln/>
        </p:spPr>
      </p:sp>
      <p:sp>
        <p:nvSpPr>
          <p:cNvPr id="17" name="Text 15"/>
          <p:cNvSpPr/>
          <p:nvPr/>
        </p:nvSpPr>
        <p:spPr>
          <a:xfrm>
            <a:off x="2032000" y="10772713"/>
            <a:ext cx="927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 client falls back to plaintext</a:t>
            </a: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master key storage on non-Windows platforms. Cross-platform credential protection needs improvement.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700000" y="2308288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2700000" y="2943288"/>
            <a:ext cx="10439400" cy="118822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12890500" y="3144932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525500" y="3144932"/>
            <a:ext cx="927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Replace custom Kyber with </a:t>
            </a: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liboqs ML-KEM (FIPS 203)</a:t>
            </a: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production use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12700000" y="4330319"/>
            <a:ext cx="10439400" cy="11826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12890500" y="4572135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3525500" y="4572135"/>
            <a:ext cx="927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</a:t>
            </a: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dashboard</a:t>
            </a: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peer management and traffic visualization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12700000" y="5761085"/>
            <a:ext cx="10439400" cy="11826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6" name="Text 24"/>
          <p:cNvSpPr/>
          <p:nvPr/>
        </p:nvSpPr>
        <p:spPr>
          <a:xfrm>
            <a:off x="12890500" y="6016247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525500" y="6016247"/>
            <a:ext cx="927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</a:t>
            </a: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multi-server support</a:t>
            </a: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anycast routing for geographic load balancing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12700000" y="7223987"/>
            <a:ext cx="10439400" cy="11826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9" name="Text 27"/>
          <p:cNvSpPr/>
          <p:nvPr/>
        </p:nvSpPr>
        <p:spPr>
          <a:xfrm>
            <a:off x="12890500" y="7472026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3525500" y="7472026"/>
            <a:ext cx="927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with a </a:t>
            </a: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certificate authority</a:t>
            </a: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automated TLS certificate management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12700000" y="8649894"/>
            <a:ext cx="10439400" cy="1182649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2" name="Text 30"/>
          <p:cNvSpPr/>
          <p:nvPr/>
        </p:nvSpPr>
        <p:spPr>
          <a:xfrm>
            <a:off x="12890500" y="8844021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3525500" y="8844021"/>
            <a:ext cx="927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</a:t>
            </a: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clients</a:t>
            </a: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(Android/iOS) using the WireGuard mobile SDK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12700000" y="10141781"/>
            <a:ext cx="10439400" cy="1168913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5" name="Text 33"/>
          <p:cNvSpPr/>
          <p:nvPr/>
        </p:nvSpPr>
        <p:spPr>
          <a:xfrm>
            <a:off x="12890500" y="10355345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3525500" y="10355345"/>
            <a:ext cx="927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</a:t>
            </a: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PSK rotation scheduling</a:t>
            </a: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automatic re-encapsulation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22860000" y="12954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">
            <a:extLst>
              <a:ext uri="{FF2B5EF4-FFF2-40B4-BE49-F238E27FC236}">
                <a16:creationId xmlns:a16="http://schemas.microsoft.com/office/drawing/2014/main" id="{EBE3E453-644D-FCF7-AF58-72E51E7AA5ED}"/>
              </a:ext>
            </a:extLst>
          </p:cNvPr>
          <p:cNvSpPr/>
          <p:nvPr/>
        </p:nvSpPr>
        <p:spPr>
          <a:xfrm>
            <a:off x="2540000" y="3556000"/>
            <a:ext cx="19304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1500" b="1" kern="0" spc="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3FAC1737-F42E-2682-CEC2-9DCE4844606B}"/>
              </a:ext>
            </a:extLst>
          </p:cNvPr>
          <p:cNvSpPr/>
          <p:nvPr/>
        </p:nvSpPr>
        <p:spPr>
          <a:xfrm>
            <a:off x="9652000" y="5334000"/>
            <a:ext cx="5080000" cy="38100"/>
          </a:xfrm>
          <a:prstGeom prst="rect">
            <a:avLst/>
          </a:prstGeom>
          <a:solidFill>
            <a:srgbClr val="7EC0DA"/>
          </a:solidFill>
          <a:ln/>
        </p:spPr>
        <p:txBody>
          <a:bodyPr/>
          <a:lstStyle/>
          <a:p>
            <a:endParaRPr lang="en-PK" sz="200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2A306BD-75D6-8CA5-BEED-AD9B5EA3D83C}"/>
              </a:ext>
            </a:extLst>
          </p:cNvPr>
          <p:cNvSpPr/>
          <p:nvPr/>
        </p:nvSpPr>
        <p:spPr>
          <a:xfrm>
            <a:off x="3810000" y="5715000"/>
            <a:ext cx="167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quantum-resistant privacy for the future</a:t>
            </a:r>
            <a:endParaRPr lang="en-US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086810B3-A394-7F72-53B7-F0596A731428}"/>
              </a:ext>
            </a:extLst>
          </p:cNvPr>
          <p:cNvSpPr/>
          <p:nvPr/>
        </p:nvSpPr>
        <p:spPr>
          <a:xfrm>
            <a:off x="5080000" y="68580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SecureVPN - VPN System with Post-Quantum Cryptography</a:t>
            </a:r>
            <a:endParaRPr lang="en-US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D2E79C7-313D-D6AC-4238-22E4A2E96050}"/>
              </a:ext>
            </a:extLst>
          </p:cNvPr>
          <p:cNvSpPr/>
          <p:nvPr/>
        </p:nvSpPr>
        <p:spPr>
          <a:xfrm>
            <a:off x="6350000" y="8890000"/>
            <a:ext cx="1168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are welcome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2476</Words>
  <Application>Microsoft Office PowerPoint</Application>
  <PresentationFormat>Custom</PresentationFormat>
  <Paragraphs>416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SecureVPN: Post-Quantum WireGuard VPN</dc:title>
  <dc:subject>SecureVPN: Post-Quantum WireGuard VPN</dc:subject>
  <dc:creator>Kimi</dc:creator>
  <cp:lastModifiedBy>Adeel Haider</cp:lastModifiedBy>
  <cp:revision>6</cp:revision>
  <dcterms:created xsi:type="dcterms:W3CDTF">2026-05-21T06:09:44Z</dcterms:created>
  <dcterms:modified xsi:type="dcterms:W3CDTF">2026-05-21T17:08:50Z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{"Label":"SecureVPN: Post-Quantum WireGuard VPN","ContentProducer":"001191110108MACG2KBH8F10000","ProduceID":"19e4921a-6342-8f13-8000-00006971fd93","ReservedCode1":"","ContentPropagator":"001191110108MACG2KBH8F20000","PropagateID":"19e4921a-6342-8f13-8000-00006971fd93","ReservedCode2":""}</vt:lpwstr>
  </property>
</Properties>
</file>